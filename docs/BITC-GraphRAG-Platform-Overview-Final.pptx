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6d49b467a640a2" /><Relationship Type="http://schemas.openxmlformats.org/officeDocument/2006/relationships/extended-properties" Target="/docProps/app.xml" Id="R3e3f0b1fdbaa4f27" /><Relationship Type="http://schemas.openxmlformats.org/officeDocument/2006/relationships/officeDocument" Target="/ppt/presentation.xml" Id="Rc6daeac4abc744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1ce82dbd2b4a79"/>
  </p:sldMasterIdLst>
  <p:notesMasterIdLst>
    <p:notesMasterId xmlns:r="http://schemas.openxmlformats.org/officeDocument/2006/relationships" r:id="Rce40fd8104784d0c"/>
  </p:notesMasterIdLst>
  <p:sldIdLst>
    <p:sldId xmlns:r="http://schemas.openxmlformats.org/officeDocument/2006/relationships" id="256" r:id="R5a5c8d4f03a34425"/>
    <p:sldId xmlns:r="http://schemas.openxmlformats.org/officeDocument/2006/relationships" id="257" r:id="Rdbb927f4b077427e"/>
    <p:sldId xmlns:r="http://schemas.openxmlformats.org/officeDocument/2006/relationships" id="258" r:id="R7be8b93e5b52497b"/>
    <p:sldId xmlns:r="http://schemas.openxmlformats.org/officeDocument/2006/relationships" id="259" r:id="R268400111bff4542"/>
    <p:sldId xmlns:r="http://schemas.openxmlformats.org/officeDocument/2006/relationships" id="260" r:id="Re6e103a58d874641"/>
    <p:sldId xmlns:r="http://schemas.openxmlformats.org/officeDocument/2006/relationships" id="261" r:id="R8be7441338774e0e"/>
    <p:sldId xmlns:r="http://schemas.openxmlformats.org/officeDocument/2006/relationships" id="262" r:id="R3f93fc5b6dd4439b"/>
    <p:sldId xmlns:r="http://schemas.openxmlformats.org/officeDocument/2006/relationships" id="263" r:id="Rc6d79680506e4560"/>
    <p:sldId xmlns:r="http://schemas.openxmlformats.org/officeDocument/2006/relationships" id="264" r:id="R546892a50e2c4610"/>
    <p:sldId xmlns:r="http://schemas.openxmlformats.org/officeDocument/2006/relationships" id="265" r:id="Rf93691795f3d46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ed2858843549d7" /><Relationship Type="http://schemas.openxmlformats.org/officeDocument/2006/relationships/slideMaster" Target="/ppt/slideMasters/slideMaster1.xml" Id="R031ce82dbd2b4a79" /><Relationship Type="http://schemas.openxmlformats.org/officeDocument/2006/relationships/notesMaster" Target="/ppt/notesMasters/notesMaster1.xml" Id="Rce40fd8104784d0c" /><Relationship Type="http://schemas.openxmlformats.org/officeDocument/2006/relationships/presProps" Target="/ppt/presProps.xml" Id="R44ab5656f3674a66" /><Relationship Type="http://schemas.openxmlformats.org/officeDocument/2006/relationships/tableStyles" Target="/ppt/tableStyles.xml" Id="R9400ac9d3a434997" /><Relationship Type="http://schemas.openxmlformats.org/officeDocument/2006/relationships/slide" Target="/ppt/slides/slide1.xml" Id="R5a5c8d4f03a34425" /><Relationship Type="http://schemas.openxmlformats.org/officeDocument/2006/relationships/slide" Target="/ppt/slides/slide2.xml" Id="Rdbb927f4b077427e" /><Relationship Type="http://schemas.openxmlformats.org/officeDocument/2006/relationships/slide" Target="/ppt/slides/slide3.xml" Id="R7be8b93e5b52497b" /><Relationship Type="http://schemas.openxmlformats.org/officeDocument/2006/relationships/slide" Target="/ppt/slides/slide4.xml" Id="R268400111bff4542" /><Relationship Type="http://schemas.openxmlformats.org/officeDocument/2006/relationships/slide" Target="/ppt/slides/slide5.xml" Id="Re6e103a58d874641" /><Relationship Type="http://schemas.openxmlformats.org/officeDocument/2006/relationships/slide" Target="/ppt/slides/slide6.xml" Id="R8be7441338774e0e" /><Relationship Type="http://schemas.openxmlformats.org/officeDocument/2006/relationships/slide" Target="/ppt/slides/slide7.xml" Id="R3f93fc5b6dd4439b" /><Relationship Type="http://schemas.openxmlformats.org/officeDocument/2006/relationships/slide" Target="/ppt/slides/slide8.xml" Id="Rc6d79680506e4560" /><Relationship Type="http://schemas.openxmlformats.org/officeDocument/2006/relationships/slide" Target="/ppt/slides/slide9.xml" Id="R546892a50e2c4610" /><Relationship Type="http://schemas.openxmlformats.org/officeDocument/2006/relationships/slide" Target="/ppt/slides/slide10.xml" Id="Rf93691795f3d46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abecc274914c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4ed2bcdea34388" /><Relationship Type="http://schemas.openxmlformats.org/officeDocument/2006/relationships/notesMaster" Target="/ppt/notesMasters/notesMaster1.xml" Id="Rab63a4ecf06e48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fc9fb7714b4930" /><Relationship Type="http://schemas.openxmlformats.org/officeDocument/2006/relationships/notesMaster" Target="/ppt/notesMasters/notesMaster1.xml" Id="Ra861f57f92564c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d2e3e10ed941ab" /><Relationship Type="http://schemas.openxmlformats.org/officeDocument/2006/relationships/notesMaster" Target="/ppt/notesMasters/notesMaster1.xml" Id="R837e91dd9c784a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4407a50fbd4547" /><Relationship Type="http://schemas.openxmlformats.org/officeDocument/2006/relationships/notesMaster" Target="/ppt/notesMasters/notesMaster1.xml" Id="R1137a169bb5b4e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72d8e3640a4238" /><Relationship Type="http://schemas.openxmlformats.org/officeDocument/2006/relationships/notesMaster" Target="/ppt/notesMasters/notesMaster1.xml" Id="R1a8111d5acd344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6202d5af3b4f0a" /><Relationship Type="http://schemas.openxmlformats.org/officeDocument/2006/relationships/notesMaster" Target="/ppt/notesMasters/notesMaster1.xml" Id="R4c5f4db140544b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0354c170ee46eb" /><Relationship Type="http://schemas.openxmlformats.org/officeDocument/2006/relationships/notesMaster" Target="/ppt/notesMasters/notesMaster1.xml" Id="R6424b1fe002c4f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edcd025be84a24" /><Relationship Type="http://schemas.openxmlformats.org/officeDocument/2006/relationships/notesMaster" Target="/ppt/notesMasters/notesMaster1.xml" Id="R0518f164be0546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3946b973ca4ed5" /><Relationship Type="http://schemas.openxmlformats.org/officeDocument/2006/relationships/notesMaster" Target="/ppt/notesMasters/notesMaster1.xml" Id="R31c42fe09aab40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1d508d35ef43c5" /><Relationship Type="http://schemas.openxmlformats.org/officeDocument/2006/relationships/notesMaster" Target="/ppt/notesMasters/notesMaster1.xml" Id="R1462d4277b6e44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BITC Knowledge Graph Learning Platform overview (user-provided markdown).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1e16e4d1a441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57a10dddf84664" /><Relationship Type="http://schemas.openxmlformats.org/officeDocument/2006/relationships/slideLayout" Target="/ppt/slideLayouts/slideLayout1.xml" Id="R0a1b1265c66f4e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1b1265c66f4e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52e94dbd94a7c" /><Relationship Type="http://schemas.openxmlformats.org/officeDocument/2006/relationships/notesSlide" Target="/ppt/notesSlides/notesSlide1.xml" Id="Rc104eba05bc946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fc69207a3b47a8" /><Relationship Type="http://schemas.openxmlformats.org/officeDocument/2006/relationships/notesSlide" Target="/ppt/notesSlides/notesSlide2.xml" Id="R25d4775d6d174d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aba94ac6d4bdf" /><Relationship Type="http://schemas.openxmlformats.org/officeDocument/2006/relationships/notesSlide" Target="/ppt/notesSlides/notesSlide3.xml" Id="R0e3c1a9391b545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13704c6bf4df3" /><Relationship Type="http://schemas.openxmlformats.org/officeDocument/2006/relationships/notesSlide" Target="/ppt/notesSlides/notesSlide4.xml" Id="Rd06fde559ecd47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24e5b57694faf" /><Relationship Type="http://schemas.openxmlformats.org/officeDocument/2006/relationships/notesSlide" Target="/ppt/notesSlides/notesSlide5.xml" Id="R1be0fb151f3d47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34277c35c4fe6" /><Relationship Type="http://schemas.openxmlformats.org/officeDocument/2006/relationships/notesSlide" Target="/ppt/notesSlides/notesSlide6.xml" Id="R0addb6cc90984a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41a9cf4ff48da" /><Relationship Type="http://schemas.openxmlformats.org/officeDocument/2006/relationships/notesSlide" Target="/ppt/notesSlides/notesSlide7.xml" Id="Ra156829184bf44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0b1aacec24b64" /><Relationship Type="http://schemas.openxmlformats.org/officeDocument/2006/relationships/notesSlide" Target="/ppt/notesSlides/notesSlide8.xml" Id="R78d67ab2712044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941c8c8bb4ee2" /><Relationship Type="http://schemas.openxmlformats.org/officeDocument/2006/relationships/notesSlide" Target="/ppt/notesSlides/notesSlide9.xml" Id="Rf24c8b410d0f49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b0ee5a85a4a6a" /><Relationship Type="http://schemas.openxmlformats.org/officeDocument/2006/relationships/notesSlide" Target="/ppt/notesSlides/notesSlide10.xml" Id="R1ba44f317ff446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7B0C23-4EBC-4A2C-A083-FD641D49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D9C06-14D5-4A33-9783-C9C4C7A0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314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44841-066C-4403-A422-671645D1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38250"/>
            <a:ext cx="1143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06162-0644-42FB-9AB4-61334129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382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COURSE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74FD5D-CBD2-4C67-B86D-48EA755A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000250"/>
            <a:ext cx="1143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A762D-AD2F-4C18-BFEB-78787890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0002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MODULE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910ED-B420-4057-A81A-51754A76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05125"/>
            <a:ext cx="1143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A60B7-9B6C-4909-A792-83DDDC29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0512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2D73ED-D966-4E85-983E-54CCB204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81375"/>
            <a:ext cx="1143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242CF-6572-40C8-9EB5-AB561318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81375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TECH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A632D-38C8-4B8A-8A49-838695C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1143000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CFD74-B48F-4B27-A9FE-18D57BE4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43250"/>
            <a:ext cx="14287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AB8A8-4B2C-43E4-B6D3-2CDF30A1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14600"/>
            <a:ext cx="0" cy="866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2AE79D-6B29-4080-A0B4-E26DEBAC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8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2C8C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2C8C3"/>
                </a:solidFill>
                <a:latin typeface="Aptos"/>
                <a:ea typeface="Aptos"/>
                <a:cs typeface="Aptos"/>
              </a:rPr>
              <a:t>BITC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61130-B0F7-4637-AB83-A1AB6999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Knowledge Graph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 Platform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682824-6C71-45FE-BB19-3BD3EF4E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571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8E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8EE"/>
                </a:solidFill>
                <a:latin typeface="Aptos"/>
                <a:ea typeface="Aptos"/>
                <a:cs typeface="Aptos"/>
              </a:rPr>
              <a:t>How GraphRAG improves course discovery, learning assistance, and source-grounded answers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B83230-F796-4C60-810A-43A6EA55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714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36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D1E4E-D0B4-468A-94D4-13D1AB9F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2C8C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2C8C3"/>
                </a:solidFill>
                <a:latin typeface="Aptos"/>
                <a:ea typeface="Aptos"/>
                <a:cs typeface="Aptos"/>
              </a:rPr>
              <a:t>Platform overview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AB107-6CD6-46FA-8B60-1B696307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3C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FC3CE"/>
                </a:solidFill>
                <a:latin typeface="Aptos"/>
                <a:ea typeface="Aptos"/>
                <a:cs typeface="Aptos"/>
              </a:rPr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886112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D023A8-A1F9-4603-886D-BE895DFC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5628C-96DB-4A99-B889-04F933C3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A learning platform with two focused experiences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C7158-09D5-4FCF-A060-EA3F9AA2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B4C99-852C-4C5C-B2DE-14DAF483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FB456-5DB0-4777-AE7E-FCAC8620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STUDENT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74C2C-F2A0-4B48-AC85-974BDF3A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4238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296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Find relevant learning material and understand how it connects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510BC-7766-4EB9-B470-1B105CE0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Browse courses and modules</a:t>
            </a:r>
          </a:p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Ask across one or many courses</a:t>
            </a:r>
          </a:p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Receive citations to modules and source documents</a:t>
            </a:r>
          </a:p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Explore the live knowledge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CC316-732D-4F24-83A0-5F3BA5F8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28750"/>
            <a:ext cx="0" cy="438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7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5315C-157F-42D0-A517-9003C485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3906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A8F7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A8F77"/>
                </a:solidFill>
                <a:latin typeface="Aptos"/>
                <a:ea typeface="Aptos"/>
                <a:cs typeface="Aptos"/>
              </a:rPr>
              <a:t>AUTHOR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0F3DA-F38E-431A-A252-96895600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907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296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Publish content and inspect the evidence 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C8F81-FF5C-42A5-BA46-B72C7459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05100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Manage courses, modules, and documents</a:t>
            </a:r>
          </a:p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Upload source files to Azure Blob Storage</a:t>
            </a:r>
          </a:p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Trigger extraction, embeddings, and graph projection</a:t>
            </a:r>
          </a:p>
          <a:p xmlns:a="http://schemas.openxmlformats.org/drawingml/2006/main">
            <a:pPr algn="l">
              <a:defRPr sz="1500" b="0">
                <a:solidFill>
                  <a:srgbClr val="1C293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C2936"/>
                </a:solidFill>
                <a:latin typeface="Aptos"/>
                <a:ea typeface="Aptos"/>
                <a:cs typeface="Aptos"/>
              </a:rPr>
              <a:t>Inspect retrieval evidence and relationships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5D5DC-C949-413F-98D2-44667C70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467350"/>
            <a:ext cx="2571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184F6-92D5-468F-800D-88927C53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5467350"/>
            <a:ext cx="2343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Shared interface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5E0DB6-7FC1-4F4F-A553-8776B323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62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Next.js learning experience backed by FastAPI</a:t>
            </a:r>
          </a:p>
        </p:txBody>
      </p:sp>
    </p:spTree>
    <p:extLst>
      <p:ext uri="{BB962C8B-B14F-4D97-AF65-F5344CB8AC3E}">
        <p14:creationId xmlns:p14="http://schemas.microsoft.com/office/powerpoint/2010/main" val="528030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BDF202-C1BC-4DC3-9EE9-D03B3C76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A3FD15-D602-42E5-A060-B44B0A97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Dynamic knowledge lifecycle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0C7FD-CD57-4459-A5D0-7A752377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DF2C1-8B03-4F2E-B086-C2E8BB3E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806E6-8473-4A20-B423-610E8EE3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B657D-155E-45C1-82AB-19CF91C9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862E3-EB59-4472-9F5D-F06ACADD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37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Create content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31211-C6CA-4642-83C9-5CCDBA13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639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Course, module, document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39F25-8DC5-42D7-8A9F-4B67E134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33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A24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609B1-1C30-430C-AA3A-813D0522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8120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CC61F-8DF7-49B8-A0D6-0CFF66A1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A5EDCA-C994-46B9-8748-C967A8D3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003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24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Store original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C0BF8-64D0-4657-894B-4E95980B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194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318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Azure Blob Storage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6C9ED-74AD-441B-8F3F-3D1745F2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33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A24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168C2-54EE-4DA5-8913-5B945E9E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8120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2D803-171F-46C4-9F8F-E2A3F6D4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27963-7BB8-4DD0-BC51-70719977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003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282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Link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6492B9-B215-4FB3-95AB-B3FED6F3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194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729500-DB69-49AC-8BE6-1C2895A8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533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A24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BAB8C4-6406-4FB4-BB23-5B8B900F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8120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6D17BA-9C9F-4C8E-B98D-D3DCB41D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CB948B-DC2B-4060-8C34-9860D297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04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Extract chunks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75434-4118-4BBF-B5A7-95E755AB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194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075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Sections and chunks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B410AC-C569-4BFC-8F3E-BB19EF42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33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A24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7346A-5384-4A1F-88BC-6399A78D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55A07-C6E9-490F-A8AC-249CA518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A4D0EB-0499-4D68-92E9-8856E716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916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Create embeddings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06160C-4966-431C-BD7A-488F7E45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194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pgvector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FAC467-32F0-4EC4-9879-6CEFC356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33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A24B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53A1AB-B906-47E1-902D-E8287221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8120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0243E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55081-0201-4FDF-8022-43A29773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955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C8C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2C8C3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458C8-4127-48C6-984D-7F90A829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003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57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Merge 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F3BDCB-35A1-450D-BD6F-B2B63632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194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DE8E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DE8EE"/>
                </a:solidFill>
                <a:latin typeface="Aptos"/>
                <a:ea typeface="Aptos"/>
                <a:cs typeface="Aptos"/>
              </a:rPr>
              <a:t>Apache 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52B9E1-C9B0-4A32-A226-ECF9CDC2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10096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9F5F4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1C15-D588-4047-AF3A-40175385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71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Canonical data model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C90074-CE4C-4193-9F1A-B8EA6EB5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52950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45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Relational tables remain the source of truth. Apache AGE holds a deterministic graph projection that the platform can rebuild from PostgreSQL.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BCD4ED-97FF-4023-BEDB-0E378861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1975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Once projected, content becomes available to search, chat, the graph explorer, and MCP clients.</a:t>
            </a:r>
          </a:p>
        </p:txBody>
      </p:sp>
    </p:spTree>
    <p:extLst>
      <p:ext uri="{BB962C8B-B14F-4D97-AF65-F5344CB8AC3E}">
        <p14:creationId xmlns:p14="http://schemas.microsoft.com/office/powerpoint/2010/main" val="20913702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849A63-4C93-4C0A-BCA1-19D7BD63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016F7-2232-4C42-AB18-34296748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Hybrid retrieval combines three evidence signals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109C0-D1BA-4DB3-AA02-A4EA7825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B2C00-0FE1-4C88-99D7-E6FE2B88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C913C-7922-4D45-93C1-97FC16CF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32385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760C5-B869-4166-9F1D-ED5B3003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3238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5B1AB7-FBB3-4A53-8C5E-4513E750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478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Keyword candidates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79588-DA8D-49F9-9E08-53464D03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Exact terms, filenames, acronyms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720B63-BEF2-415B-A3CF-27C12EF4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32385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4FD75-14B7-41FD-964A-15AC1EC6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3238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874C1-7673-4644-AB24-834AB3B4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478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Vector candidates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72558-72B3-44C6-A29D-C7F4DA2D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66950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Semantic similarity for natural-language 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5F242-4EE9-414B-9366-F142C5AE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62100"/>
            <a:ext cx="32385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FD6A85-76B8-41E0-9D78-58B2CD64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62100"/>
            <a:ext cx="32385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73DBF-BD32-4F63-A50B-283DEC03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8478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Graph candidates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9363E-8B84-4CD8-A933-248E0691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66950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Verified relationships and multi-hop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1E49C6-6542-41F3-A83E-490BAF8D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718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0A24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3EB551-C5DC-4074-B073-4C7CA9B7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337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0A24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93ECA-CD15-4B1D-9E9D-AAAFA3C3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0A24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07AB7F-C939-41B0-833C-281A0ABA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B8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CC1F54-BD41-4A52-B03C-9974A665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718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A8F7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52ECEA-221A-477B-89F5-0710095F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A8F7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6232FA-ECEC-421D-BC76-638DB7B7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A8F7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71A8A7-16AC-4764-8207-658194BF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81400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F43DF6-90F6-48CB-AE36-6D11786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81400"/>
            <a:ext cx="323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Reciprocal Rank Fusion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592DBF-A5D4-48D2-97F3-CCABB558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2C8C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189118-BB2A-465B-9471-6205C7EE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72050"/>
            <a:ext cx="621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5F4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84D904-5556-4D2F-ACB4-88506E77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1244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Grounded answer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D8457D-2DA0-473C-8AC2-A4644B74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4292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Citations plus relevant graph context</a:t>
            </a:r>
          </a:p>
        </p:txBody>
      </p:sp>
    </p:spTree>
    <p:extLst>
      <p:ext uri="{BB962C8B-B14F-4D97-AF65-F5344CB8AC3E}">
        <p14:creationId xmlns:p14="http://schemas.microsoft.com/office/powerpoint/2010/main" val="610771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AED3CC-C500-423A-999B-5AC2D539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8AAD3-2A61-4B16-B84E-09627933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Where GraphRAG adds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487BB-66CE-4B03-87FB-44419FCB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AD971-338D-4F30-B2E7-CF28D853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47E40-AC7C-4785-8DB7-360AAE64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VECTOR 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EC2CE-085C-4D8C-99B2-368382B4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Finds passages that sound similar to the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F4103-4972-4F86-884B-0D7BE8B0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Strong for paraphrases and conceptual similarity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Does not natively traverse explicit relationships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FD3AC-927C-4E3D-918B-39750C2A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28750"/>
            <a:ext cx="0" cy="438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7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0FF10-9FAD-4928-BA2E-83AA85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A8F7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A8F77"/>
                </a:solidFill>
                <a:latin typeface="Aptos"/>
                <a:ea typeface="Aptos"/>
                <a:cs typeface="Aptos"/>
              </a:rPr>
              <a:t>GRAPHRAG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690CA-BF87-4C76-A746-382822FD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288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Finds evidence and follows verified course relationships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565EF-0EEE-4A72-9A97-E8500AE8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24150"/>
            <a:ext cx="438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Handles prerequisites, membership, provenance, and shared technology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Provides the path behind the answer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6C8CC-A0C2-4643-91AB-92C55D58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2870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C5110-E27E-49D0-8DC3-E0171435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2C8C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2C8C3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39C451-18D5-4F9E-A492-43456032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9585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374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Which modules should I complete before the MCP module?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B7ABA-6662-4488-A28D-A392626A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2440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23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DE8E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DE8EE"/>
                </a:solidFill>
                <a:latin typeface="Aptos"/>
                <a:ea typeface="Aptos"/>
                <a:cs typeface="Aptos"/>
              </a:rPr>
              <a:t>GraphRAG can follow prerequisite and module relationships instead of relying on mentions alone.</a:t>
            </a:r>
          </a:p>
        </p:txBody>
      </p:sp>
    </p:spTree>
    <p:extLst>
      <p:ext uri="{BB962C8B-B14F-4D97-AF65-F5344CB8AC3E}">
        <p14:creationId xmlns:p14="http://schemas.microsoft.com/office/powerpoint/2010/main" val="13883934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489975-6D53-441D-ADE2-C3F06217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150A1-FD95-4358-8A76-D03A5FEC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BITC implementation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35369F-7784-4AAD-81C5-347EB1CE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1E2F4-3F13-4E22-83A5-7454BC62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8AE82-6243-450D-8794-0DE12800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373DDC-5DE8-41B7-98BA-EC2F71D0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5109B-52DC-4DB4-8EEF-6FBDD367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Next.js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30CAD-A1DE-4B8B-81D1-B37D8D78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049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Student and author interface, graph explorer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39951-B636-453B-962F-58D111ED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C8C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067D7-6DDD-48E8-820F-3B942B64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F19C79-7D2A-4C31-AA12-8528C474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SERVICES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23882-5527-4359-B5E6-7F74DB69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81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FastAPI + MCP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A6411-B49A-4676-8087-98163732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812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Chat, administration, uploads, AI-client access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113B0-D027-4909-A15B-8A9A50C0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C8C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396FD-C809-4A2A-8341-BEE2CF3E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0820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9F5F4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5BD8D5-8D76-430D-A8CA-A00BDD61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766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A8F7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A8F77"/>
                </a:solidFill>
                <a:latin typeface="Aptos"/>
                <a:ea typeface="Aptos"/>
                <a:cs typeface="Aptos"/>
              </a:rPr>
              <a:t>KNOWLEDGE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71D1E4-54FE-4A54-B3C8-77E2B202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575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207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PostgreSQL + pgvector + 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D2AB38-B1DA-4C42-A76C-ADE4EEE5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575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Canonical metadata, vectors, graph projection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AE317-235D-4D2E-ADE9-03747BC6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862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C8C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2144D3-D791-44A2-873A-688953BC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E40194-86B4-495B-AC88-5E756FD8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529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AI + SAFETY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B590AF-B207-480E-88B4-4038FF7E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1338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98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Azure OpenAI + Content Safety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AB9B2F-0F99-40DD-A86C-556A4119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338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Embeddings, grounded responses, moderation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63CD64-69D3-4949-8F76-FD67A7AC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C8C3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D48418-9D91-474A-A38D-024A28D0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820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7461BF-EC82-40AF-BCE5-5BEEA24C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292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3F8506-40BA-4E90-A100-D685F211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10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Azure Blob Storage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2FFDFF-4759-48A2-891E-E60117DC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101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Original course documents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2F0A41-E01B-4550-82C8-C67A177D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817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73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The single PostgreSQL platform keeps relational data, full-text search, vectors, and graph projection close together for teaching.</a:t>
            </a:r>
          </a:p>
        </p:txBody>
      </p:sp>
    </p:spTree>
    <p:extLst>
      <p:ext uri="{BB962C8B-B14F-4D97-AF65-F5344CB8AC3E}">
        <p14:creationId xmlns:p14="http://schemas.microsoft.com/office/powerpoint/2010/main" val="14174897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8272D-E4F6-41AE-889F-3EB9A73D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9A1FC-5F2F-4B91-971A-21923D77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MCP extends the platform to compatible AI clients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40F9B-4326-425D-B43E-FB365248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0CBDA6-9B96-4CD5-B4F8-949B6738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9BD56-898A-4EC5-ABAA-5FDA300B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429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009FA-A6E1-4DB4-BB18-B446B518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5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Student Learning MCP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B70A5-B858-4355-B888-A81D0A66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Constrained tools for course consumers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FC2DD-9F24-42A1-AFBE-8FA72EE4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1143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9F5F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6ED77-7B6B-4DCA-917E-FC064FD5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6230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7D9066-E704-4F90-86E6-32F40200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62300"/>
            <a:ext cx="1143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9F5F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D585C-B7BC-46F4-BB12-EA960C81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76874-E736-47DC-8BA5-51B983C0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476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9F5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E3A44-C206-4E13-B18D-432B195F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95700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Course browsing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780CD-5085-4510-884E-DBB78134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053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63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6B87"/>
                </a:solidFill>
                <a:latin typeface="Aptos"/>
                <a:ea typeface="Aptos"/>
                <a:cs typeface="Aptos"/>
              </a:rPr>
              <a:t>Designed for safe, source-grounded learning access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2EF17-531A-4085-8321-267544C4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24000"/>
            <a:ext cx="3429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BD72F6-C36A-4615-ABB3-2D89CC79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86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Authoring Knowledge 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96FDB6-C6DD-4EF6-970A-8CBC4CF9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146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008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Catalogue, module, source metadata, and graph-aware author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FF413-6E9A-4822-A697-E7F3C6C6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67100"/>
            <a:ext cx="1143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5F1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357EC-3EAD-4097-917C-029F156C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6710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A8F7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A8F77"/>
                </a:solidFill>
                <a:latin typeface="Aptos"/>
                <a:ea typeface="Aptos"/>
                <a:cs typeface="Aptos"/>
              </a:rPr>
              <a:t>Manage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35A3A2-C739-423E-99E6-E0986B51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671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5F1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3601E8-EB8A-4DD4-9E4F-5F39B9E6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67100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A8F7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A8F77"/>
                </a:solidFill>
                <a:latin typeface="Aptos"/>
                <a:ea typeface="Aptos"/>
                <a:cs typeface="Aptos"/>
              </a:rPr>
              <a:t>Inspect 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6F05BC-6ED2-4DE3-B15B-90F126E0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053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63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A8F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A8F77"/>
                </a:solidFill>
                <a:latin typeface="Aptos"/>
                <a:ea typeface="Aptos"/>
                <a:cs typeface="Aptos"/>
              </a:rPr>
              <a:t>Separates author capabilities from student access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436469-8E0C-4E22-B726-8D009E00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C43C53-46DD-45F2-ADB3-E3C0F26C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67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Hosted platform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A7075D-E908-4C04-8681-0F000D90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43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2C8C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2C8C3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EA2CA1-EF36-4D58-97B9-6D01FB79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8610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2C8C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D27C7-E4F0-4CAF-85C1-E7B8ABA4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8610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2C8C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8A2C94-EC20-45F1-A435-CF3A5B99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19750"/>
            <a:ext cx="876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422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Local stdio supports Claude-compatible clients. Remote Streamable HTTP supports hosted MCP clients.</a:t>
            </a:r>
          </a:p>
        </p:txBody>
      </p:sp>
    </p:spTree>
    <p:extLst>
      <p:ext uri="{BB962C8B-B14F-4D97-AF65-F5344CB8AC3E}">
        <p14:creationId xmlns:p14="http://schemas.microsoft.com/office/powerpoint/2010/main" val="12416464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1D752A-4801-497C-A5FB-95C0B037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8FE06-3B55-463D-A8FD-50549783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Teaching demonstrations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E361F-2B9D-4C8F-9438-EC936604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B0339-B277-4C8A-9228-ECCE5B3C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1E8BB-F3DC-417C-BDD1-90EC24BE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A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0A24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E20F1-A079-46A6-AB14-09F4806C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906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Retrieval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C1F98-20BC-4733-BDB9-ADE400AA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Keyword-only, vector-only, then RRF hybrid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DFAAF-2017-4145-BD1F-968966DE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955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FA0B7-14FA-4802-8410-836D417D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A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0A24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C41DA-F157-477C-A807-646972B5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Graph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93945-AD5B-4238-8A80-939EE75D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2880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Display the AGE path behind a curriculum answer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16073-0BBE-4D1D-ADCA-8034C3C3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955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00FC9-0E2C-45D5-8136-C9BFAB94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A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0A24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158D9-26BC-4EC6-8FAF-B86B0C61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4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Multi-hop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55945D-D83F-45BF-944D-2BB92720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7660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Compare vector-only and graph-aware responses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7EE15-19EB-4CA5-BBCF-48B3C421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433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5DDE7-12A7-49CD-B123-49B0CD17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384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A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0A24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8EFB33-27AD-4A95-B4B6-F450D205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Content lifecycle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254215-1427-4450-8737-2CBD7814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7660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Create content and observe rows, embedding, node, and edge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479F1-2AE4-4479-83F7-48087ED6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9433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95CB20-6EFF-4724-8852-FC60034A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A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0A24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41C007-F767-422D-BCE3-67F8D710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862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Multiple clients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A9029D-73A1-4ED7-9656-6A0ADE44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2440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Query through the web chatbot and Student MCP server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AE1AA7-0D07-40E2-B89C-E71874A9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911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AD63DC-2CD2-4B6F-903C-18C2EAEB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862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A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0A24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D178DF-6482-48E6-8AB3-2C701425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862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Trust controls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999602-7257-4A8A-A1F3-1F8CFA67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2440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Show citations, Blob-backed sources, and Content Safety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DF8FB0-E5AC-4F63-B5F1-A5B11A90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3911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</p:spTree>
    <p:extLst>
      <p:ext uri="{BB962C8B-B14F-4D97-AF65-F5344CB8AC3E}">
        <p14:creationId xmlns:p14="http://schemas.microsoft.com/office/powerpoint/2010/main" val="1584020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1C48CE-D1D5-41D9-9E43-32CDE9DC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C8C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44AF3-5584-48A2-BD20-E30B6F2A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Design principles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AE0F8-32F9-40F5-93EF-5747302A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3CFF02-117A-43D6-A4BD-E11A984B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59157-605A-4086-9625-D2E4A296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51054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1C6F7B-BC49-47B4-A8BC-28BA3721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952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775A3-CCFB-4E6C-AA55-B59220BC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33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Canonical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8C03E-2BEC-42BC-AA59-5B9EFE02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PostgreSQL owns relational truth. AGE remains rebuildable.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6B1CC-5032-4D48-8162-5D2E9076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90650"/>
            <a:ext cx="51054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9C48FF-6D99-48FB-9731-7ED5B0C9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90650"/>
            <a:ext cx="952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75AA1-B676-4593-AD0A-7B0EEE2C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533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Source 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BCA89-3A8F-42EC-A905-EF85650D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859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Blob Storage keeps original files while PostgreSQL holds extracted knowledge.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11F34-99C8-4FA6-B607-2406332D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51054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63AF4-28AE-4AF5-B6AD-2A8E58DA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952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B8E59-9BE4-419E-9C28-BD1A538F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384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Evidence discipline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CFCD8-D43E-4260-ACA0-1BD3D584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Every grounded answer includes citations. Graph structure requires supporting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2334BA-C32C-420C-9B86-8B97F2A9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51054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9C66D4-3C7E-44EF-8EA5-B389564F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952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1868E2-12FE-4DA4-8D8D-F476D997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384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Access separation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60AD5-7BE4-46EB-BCEF-92AF0755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909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Student capabilities remain distinct from authoring capabilities.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E096F5-7CC2-479D-8A7B-88AFEF90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1054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C8DA6-806F-4F15-8478-24DDDC65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952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391EB5-6B81-4B11-B2C3-C68AA1AB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434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Transparent ranking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464DF9-C6B0-4E0A-B134-154F0553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958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Keyword, vector, and graph candidates combine through RRF.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408BF7-49BB-47E4-A096-3B589A61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00550"/>
            <a:ext cx="51054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A7042F-59E5-4BE9-A3D2-36117BCF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00550"/>
            <a:ext cx="952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5E72C8-0D04-4853-906C-9E964F09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434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Advanced option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06D5B5-0E9E-4E06-99ED-520FD604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958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Model-based reranking remains an optional teaching experiment.</a:t>
            </a:r>
          </a:p>
        </p:txBody>
      </p:sp>
    </p:spTree>
    <p:extLst>
      <p:ext uri="{BB962C8B-B14F-4D97-AF65-F5344CB8AC3E}">
        <p14:creationId xmlns:p14="http://schemas.microsoft.com/office/powerpoint/2010/main" val="4768972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DF5956-77CF-4A3F-91B2-C39BC056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9EF07-80E9-4690-A989-F5A3B3E9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Future enhancements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763FE-7A65-411D-A898-9799B411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910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F6B76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E3F46-E1A4-4B07-BD2F-3C05183C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344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7C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F613D4-3610-454E-8B0A-502B5420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00250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9C7C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225C8-BDAD-4B9B-AF24-98D0003A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2877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62DFD1-EE37-4B17-99B1-0BE14195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287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D874D1-8361-4D84-9AA1-C51892BC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4097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Identity and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189948-9026-4F8A-8AF9-8AAF4E4B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097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Microsoft Entra ID and course enrolment authorization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EB4938-A4F1-4C0A-8583-E36A7D27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982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BB493-36A1-48B2-93AE-E115D76E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98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8EFBB-7146-4BA0-B710-16C09068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90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Private citations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60434-7062-450A-B20F-913F16AF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907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Short-lived SAS links for protected source documents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8239F-C663-4C96-8049-DBFEA28B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491F0-7FA0-488C-B850-70DE5DEB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88A23A-4C55-48FA-9A71-4E8C6A3A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9718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Background extraction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E89433-14C6-4EA8-A921-808430B3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718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Asynchronous processing for PDF, DOCX, and PPTX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368A8F-3626-400E-97D2-8BC966AD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7192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0A24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63085E-F519-46B9-B00E-07CF6020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719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B2F04A-F445-42CE-8241-9537CDFD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528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Incremental graph updates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3568FB-92C6-4983-ADA3-F4AA251B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7528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Outbox worker instead of full projection synchronization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B1641F-AB5B-4C90-975A-F7D3A250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5297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6BE32C-65A5-4C2D-87D0-BEB3E84E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52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CA031-83DC-4B23-8BFF-2199D048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339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Retrieval evaluation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20F3E3-8936-4B98-A584-3EDD49D7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339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Dataset built from anonymized student questions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D9539E-B1B6-416F-9451-B3ED60E0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3402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FAE900-9191-4D2A-8B31-DC37E325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340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6BE229-808B-4F5A-B5AE-D28D3B95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149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Semantic reranking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E7B7F4-E3B7-4C50-B777-F3448129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149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F6B76"/>
                </a:solidFill>
                <a:latin typeface="Aptos"/>
                <a:ea typeface="Aptos"/>
                <a:cs typeface="Aptos"/>
              </a:rPr>
              <a:t>Optional azure_ai.rank() experiment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79C608-600A-4CDE-97D4-2220870B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8170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239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43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43E"/>
                </a:solidFill>
                <a:latin typeface="Aptos"/>
                <a:ea typeface="Aptos"/>
                <a:cs typeface="Aptos"/>
              </a:rPr>
              <a:t>Roadmap items extend security, ingestion, synchronization, and evaluation without changing the canonical data model.</a:t>
            </a:r>
          </a:p>
        </p:txBody>
      </p:sp>
    </p:spTree>
    <p:extLst>
      <p:ext uri="{BB962C8B-B14F-4D97-AF65-F5344CB8AC3E}">
        <p14:creationId xmlns:p14="http://schemas.microsoft.com/office/powerpoint/2010/main" val="18558287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2026-09-12T00:39:54.9150000Z</dcterms:created>
  <dcterms:modified xsi:type="dcterms:W3CDTF">2026-09-12T00:39:54.9160000Z</dcterms:modified>
</coreProperties>
</file>