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2" r:id="rId10"/>
    <p:sldId id="268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BITC Knowledge Graph Learning Platform overview (user-provided markdown).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97B0C23-4EBC-4A2C-A083-FD641D49CEE4}"/>
              </a:ext>
            </a:extLst>
          </p:cNvPr>
          <p:cNvSpPr>
            <a:spLocks noGrp="1"/>
          </p:cNvSpPr>
          <p:nvPr/>
        </p:nvSpPr>
        <p:spPr>
          <a:xfrm>
            <a:off x="7524750" y="0"/>
            <a:ext cx="4667250" cy="685800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CD9C06-14D5-4A33-9783-C9C4C7A0907B}"/>
              </a:ext>
            </a:extLst>
          </p:cNvPr>
          <p:cNvSpPr>
            <a:spLocks noGrp="1"/>
          </p:cNvSpPr>
          <p:nvPr/>
        </p:nvSpPr>
        <p:spPr>
          <a:xfrm>
            <a:off x="8191500" y="87630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944841-066C-4403-A422-671645D1E77A}"/>
              </a:ext>
            </a:extLst>
          </p:cNvPr>
          <p:cNvSpPr>
            <a:spLocks noGrp="1"/>
          </p:cNvSpPr>
          <p:nvPr/>
        </p:nvSpPr>
        <p:spPr>
          <a:xfrm>
            <a:off x="8572500" y="1238250"/>
            <a:ext cx="114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06162-0644-42FB-9AB4-61334129D6C1}"/>
              </a:ext>
            </a:extLst>
          </p:cNvPr>
          <p:cNvSpPr>
            <a:spLocks noGrp="1"/>
          </p:cNvSpPr>
          <p:nvPr/>
        </p:nvSpPr>
        <p:spPr>
          <a:xfrm>
            <a:off x="8572500" y="123825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COURSE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74FD5D-CBD2-4C67-B86D-48EA755ADAA1}"/>
              </a:ext>
            </a:extLst>
          </p:cNvPr>
          <p:cNvSpPr>
            <a:spLocks noGrp="1"/>
          </p:cNvSpPr>
          <p:nvPr/>
        </p:nvSpPr>
        <p:spPr>
          <a:xfrm>
            <a:off x="9763125" y="2000250"/>
            <a:ext cx="114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A762D-AD2F-4C18-BFEB-78787890D1F2}"/>
              </a:ext>
            </a:extLst>
          </p:cNvPr>
          <p:cNvSpPr>
            <a:spLocks noGrp="1"/>
          </p:cNvSpPr>
          <p:nvPr/>
        </p:nvSpPr>
        <p:spPr>
          <a:xfrm>
            <a:off x="9763125" y="200025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MODULE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E910ED-B420-4057-A81A-51754A760636}"/>
              </a:ext>
            </a:extLst>
          </p:cNvPr>
          <p:cNvSpPr>
            <a:spLocks noGrp="1"/>
          </p:cNvSpPr>
          <p:nvPr/>
        </p:nvSpPr>
        <p:spPr>
          <a:xfrm>
            <a:off x="8286750" y="2905125"/>
            <a:ext cx="114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1A60B7-9B6C-4909-A792-83DDDC297CD9}"/>
              </a:ext>
            </a:extLst>
          </p:cNvPr>
          <p:cNvSpPr>
            <a:spLocks noGrp="1"/>
          </p:cNvSpPr>
          <p:nvPr/>
        </p:nvSpPr>
        <p:spPr>
          <a:xfrm>
            <a:off x="8286750" y="2905125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2D73ED-D966-4E85-983E-54CCB2048206}"/>
              </a:ext>
            </a:extLst>
          </p:cNvPr>
          <p:cNvSpPr>
            <a:spLocks noGrp="1"/>
          </p:cNvSpPr>
          <p:nvPr/>
        </p:nvSpPr>
        <p:spPr>
          <a:xfrm>
            <a:off x="10001250" y="3381375"/>
            <a:ext cx="114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242CF-6572-40C8-9EB5-AB5613189302}"/>
              </a:ext>
            </a:extLst>
          </p:cNvPr>
          <p:cNvSpPr>
            <a:spLocks noGrp="1"/>
          </p:cNvSpPr>
          <p:nvPr/>
        </p:nvSpPr>
        <p:spPr>
          <a:xfrm>
            <a:off x="10001250" y="3381375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TECH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84A632D-38C8-4B8A-8A49-838695C6317C}"/>
              </a:ext>
            </a:extLst>
          </p:cNvPr>
          <p:cNvSpPr>
            <a:spLocks noGrp="1"/>
          </p:cNvSpPr>
          <p:nvPr/>
        </p:nvSpPr>
        <p:spPr>
          <a:xfrm>
            <a:off x="9144000" y="1752600"/>
            <a:ext cx="1143000" cy="504825"/>
          </a:xfrm>
          <a:prstGeom prst="line">
            <a:avLst/>
          </a:prstGeom>
          <a:noFill/>
          <a:ln w="28575">
            <a:solidFill>
              <a:srgbClr val="FFFFF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19CFD74-B48F-4B27-A9FE-18D57BE4F20E}"/>
              </a:ext>
            </a:extLst>
          </p:cNvPr>
          <p:cNvSpPr>
            <a:spLocks noGrp="1"/>
          </p:cNvSpPr>
          <p:nvPr/>
        </p:nvSpPr>
        <p:spPr>
          <a:xfrm>
            <a:off x="8858250" y="3143250"/>
            <a:ext cx="1428750" cy="495300"/>
          </a:xfrm>
          <a:prstGeom prst="line">
            <a:avLst/>
          </a:prstGeom>
          <a:noFill/>
          <a:ln w="28575">
            <a:solidFill>
              <a:srgbClr val="FFFFF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AEAB8A8-4B2C-43E4-B6D3-2CDF30A10890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0" cy="866775"/>
          </a:xfrm>
          <a:prstGeom prst="line">
            <a:avLst/>
          </a:prstGeom>
          <a:noFill/>
          <a:ln w="28575">
            <a:solidFill>
              <a:srgbClr val="FFFFF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2AE79D-6B29-4080-A0B4-E26DEBAC41C1}"/>
              </a:ext>
            </a:extLst>
          </p:cNvPr>
          <p:cNvSpPr>
            <a:spLocks noGrp="1"/>
          </p:cNvSpPr>
          <p:nvPr/>
        </p:nvSpPr>
        <p:spPr>
          <a:xfrm>
            <a:off x="723900" y="6286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BITC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161130-B0F7-4637-AB83-A1AB6999E07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375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Courseforge</a:t>
            </a:r>
            <a:r>
              <a:rPr lang="en-US"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- </a:t>
            </a: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Knowledge </a:t>
            </a:r>
            <a:r>
              <a:rPr sz="37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Graph</a:t>
            </a:r>
          </a:p>
          <a:p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Platform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82824-6C71-45FE-BB19-3BD3EF4EB03E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5715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How GraphRAG improves course discovery, learning assistance, and source-grounded answers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BB83230-F796-4C60-810A-43A6EA55FB22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1714500" cy="361950"/>
          </a:xfrm>
          <a:prstGeom prst="roundRect">
            <a:avLst>
              <a:gd name="adj" fmla="val 21053"/>
            </a:avLst>
          </a:prstGeom>
          <a:solidFill>
            <a:srgbClr val="17365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1D1E4E-D0B4-468A-94D4-13D1AB9F29A1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14859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Platform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FAB107-6CD6-46FA-8B60-1B6963079A97}"/>
              </a:ext>
            </a:extLst>
          </p:cNvPr>
          <p:cNvSpPr>
            <a:spLocks noGrp="1"/>
          </p:cNvSpPr>
          <p:nvPr/>
        </p:nvSpPr>
        <p:spPr>
          <a:xfrm>
            <a:off x="762000" y="58483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AFC3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3CE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8861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D023A8-A1F9-4603-886D-BE895DFCA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5628C-96DB-4A99-B889-04F933C33FB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 learning platform with two focused experiences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C7158-09D5-4FCF-A060-EA3F9AA2F002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02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74B4C99-852C-4C5C-B2DE-14DAF483480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FB456-5DB0-4777-AE7E-FCAC8620B9BE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874C2C-F2A0-4B48-AC85-974BDF3AE246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423862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96"/>
          </a:bodyPr>
          <a:lstStyle/>
          <a:p>
            <a:pPr algn="l">
              <a:defRPr sz="20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Find relevant learning material and understand how it connects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3510BC-7766-4EB9-B470-1B105CE04390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447675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Browse courses and modules</a:t>
            </a:r>
          </a:p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Ask across one or many courses</a:t>
            </a:r>
          </a:p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Receive citations to modules and source documents</a:t>
            </a:r>
          </a:p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Explore the live knowledge graph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63CC316-732D-4F24-83A0-5F3BA5F8D06C}"/>
              </a:ext>
            </a:extLst>
          </p:cNvPr>
          <p:cNvSpPr>
            <a:spLocks noGrp="1"/>
          </p:cNvSpPr>
          <p:nvPr/>
        </p:nvSpPr>
        <p:spPr>
          <a:xfrm>
            <a:off x="5943600" y="1428750"/>
            <a:ext cx="0" cy="4381500"/>
          </a:xfrm>
          <a:prstGeom prst="line">
            <a:avLst/>
          </a:prstGeom>
          <a:noFill/>
          <a:ln w="19050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E5315C-157F-42D0-A517-9003C485C308}"/>
              </a:ext>
            </a:extLst>
          </p:cNvPr>
          <p:cNvSpPr>
            <a:spLocks noGrp="1"/>
          </p:cNvSpPr>
          <p:nvPr/>
        </p:nvSpPr>
        <p:spPr>
          <a:xfrm>
            <a:off x="6648450" y="13906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AUTHOR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B0F3DA-F38E-431A-A252-96895600E60B}"/>
              </a:ext>
            </a:extLst>
          </p:cNvPr>
          <p:cNvSpPr>
            <a:spLocks noGrp="1"/>
          </p:cNvSpPr>
          <p:nvPr/>
        </p:nvSpPr>
        <p:spPr>
          <a:xfrm>
            <a:off x="6648450" y="1790700"/>
            <a:ext cx="4095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96"/>
          </a:bodyPr>
          <a:lstStyle/>
          <a:p>
            <a:pPr algn="l">
              <a:defRPr sz="20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Publish content and inspect the evidence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BC8F81-FF5C-42A5-BA46-B72C74591475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47675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Manage courses, modules, and documents</a:t>
            </a:r>
          </a:p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Upload source files to Azure Blob Storage</a:t>
            </a:r>
          </a:p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Trigger extraction, embeddings, and graph projection</a:t>
            </a:r>
          </a:p>
          <a:p>
            <a:pPr algn="l">
              <a:defRPr sz="1500" b="0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936"/>
                </a:solidFill>
                <a:latin typeface="Aptos"/>
                <a:ea typeface="Aptos"/>
                <a:cs typeface="Aptos"/>
              </a:rPr>
              <a:t>Inspect retrieval evidence and relationships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75D5DC-C949-413F-98D2-44667C70EEE3}"/>
              </a:ext>
            </a:extLst>
          </p:cNvPr>
          <p:cNvSpPr>
            <a:spLocks noGrp="1"/>
          </p:cNvSpPr>
          <p:nvPr/>
        </p:nvSpPr>
        <p:spPr>
          <a:xfrm>
            <a:off x="4810125" y="5467350"/>
            <a:ext cx="2571750" cy="361950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B184F6-92D5-468F-800D-88927C53A965}"/>
              </a:ext>
            </a:extLst>
          </p:cNvPr>
          <p:cNvSpPr>
            <a:spLocks noGrp="1"/>
          </p:cNvSpPr>
          <p:nvPr/>
        </p:nvSpPr>
        <p:spPr>
          <a:xfrm>
            <a:off x="4924425" y="5467350"/>
            <a:ext cx="2343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interface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5E0DB6-7FC1-4F4F-A553-8776B323BF39}"/>
              </a:ext>
            </a:extLst>
          </p:cNvPr>
          <p:cNvSpPr>
            <a:spLocks noGrp="1"/>
          </p:cNvSpPr>
          <p:nvPr/>
        </p:nvSpPr>
        <p:spPr>
          <a:xfrm>
            <a:off x="4057650" y="59626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Next.js learning experience backed by FastAPI</a:t>
            </a:r>
          </a:p>
        </p:txBody>
      </p:sp>
    </p:spTree>
    <p:extLst>
      <p:ext uri="{BB962C8B-B14F-4D97-AF65-F5344CB8AC3E}">
        <p14:creationId xmlns:p14="http://schemas.microsoft.com/office/powerpoint/2010/main" val="52803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2BDF202-C1BC-4DC3-9EE9-D03B3C76A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A3FD15-D602-42E5-A060-B44B0A97E54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Dynamic knowledge lifecycle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10C7FD-CD57-4459-A5D0-7A7523775C0B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03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FADF2C1-8B03-4F2E-B086-C2E8BB3EB5A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3806E6-8473-4A20-B423-610E8EE3A322}"/>
              </a:ext>
            </a:extLst>
          </p:cNvPr>
          <p:cNvSpPr>
            <a:spLocks noGrp="1"/>
          </p:cNvSpPr>
          <p:nvPr/>
        </p:nvSpPr>
        <p:spPr>
          <a:xfrm>
            <a:off x="55245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B657D-155E-45C1-82AB-19CF91C964A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862E3-EB59-4472-9F5D-F06ACADDBEB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77" lnSpcReduction="1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Create content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31211-C6CA-4642-83C9-5CCDBA13098B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139" lnSpcReduction="10000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Course, module, document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5739F25-8DC5-42D7-8A9F-4B67E134598D}"/>
              </a:ext>
            </a:extLst>
          </p:cNvPr>
          <p:cNvSpPr>
            <a:spLocks noGrp="1"/>
          </p:cNvSpPr>
          <p:nvPr/>
        </p:nvSpPr>
        <p:spPr>
          <a:xfrm>
            <a:off x="207645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C609B1-1C30-430C-AA3A-813D0522482E}"/>
              </a:ext>
            </a:extLst>
          </p:cNvPr>
          <p:cNvSpPr>
            <a:spLocks noGrp="1"/>
          </p:cNvSpPr>
          <p:nvPr/>
        </p:nvSpPr>
        <p:spPr>
          <a:xfrm>
            <a:off x="240030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ECC61F-8DF7-49B8-A0D6-0CFF66A11C22}"/>
              </a:ext>
            </a:extLst>
          </p:cNvPr>
          <p:cNvSpPr>
            <a:spLocks noGrp="1"/>
          </p:cNvSpPr>
          <p:nvPr/>
        </p:nvSpPr>
        <p:spPr>
          <a:xfrm>
            <a:off x="251460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A5EDCA-C994-46B9-8748-C967A8D39DD9}"/>
              </a:ext>
            </a:extLst>
          </p:cNvPr>
          <p:cNvSpPr>
            <a:spLocks noGrp="1"/>
          </p:cNvSpPr>
          <p:nvPr/>
        </p:nvSpPr>
        <p:spPr>
          <a:xfrm>
            <a:off x="257175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747" lnSpcReduction="2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Store original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4C0BF8-64D0-4657-894B-4E95980B01E9}"/>
              </a:ext>
            </a:extLst>
          </p:cNvPr>
          <p:cNvSpPr>
            <a:spLocks noGrp="1"/>
          </p:cNvSpPr>
          <p:nvPr/>
        </p:nvSpPr>
        <p:spPr>
          <a:xfrm>
            <a:off x="251460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18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Azure Blob Storage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D76C9ED-74AD-441B-8F3F-3D1745F2C85D}"/>
              </a:ext>
            </a:extLst>
          </p:cNvPr>
          <p:cNvSpPr>
            <a:spLocks noGrp="1"/>
          </p:cNvSpPr>
          <p:nvPr/>
        </p:nvSpPr>
        <p:spPr>
          <a:xfrm>
            <a:off x="392430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5168C2-54EE-4DA5-8913-5B945E9E2804}"/>
              </a:ext>
            </a:extLst>
          </p:cNvPr>
          <p:cNvSpPr>
            <a:spLocks noGrp="1"/>
          </p:cNvSpPr>
          <p:nvPr/>
        </p:nvSpPr>
        <p:spPr>
          <a:xfrm>
            <a:off x="424815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2D803-171F-46C4-9F8F-E2A3F6D400C6}"/>
              </a:ext>
            </a:extLst>
          </p:cNvPr>
          <p:cNvSpPr>
            <a:spLocks noGrp="1"/>
          </p:cNvSpPr>
          <p:nvPr/>
        </p:nvSpPr>
        <p:spPr>
          <a:xfrm>
            <a:off x="436245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C27963-7BB8-4DD0-BC51-70719977697C}"/>
              </a:ext>
            </a:extLst>
          </p:cNvPr>
          <p:cNvSpPr>
            <a:spLocks noGrp="1"/>
          </p:cNvSpPr>
          <p:nvPr/>
        </p:nvSpPr>
        <p:spPr>
          <a:xfrm>
            <a:off x="441960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82" lnSpcReduction="2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Link metadata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6492B9-B215-4FB3-95AB-B3FED6F3EF4C}"/>
              </a:ext>
            </a:extLst>
          </p:cNvPr>
          <p:cNvSpPr>
            <a:spLocks noGrp="1"/>
          </p:cNvSpPr>
          <p:nvPr/>
        </p:nvSpPr>
        <p:spPr>
          <a:xfrm>
            <a:off x="436245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B729500-DB69-49AC-8BE6-1C2895A80A78}"/>
              </a:ext>
            </a:extLst>
          </p:cNvPr>
          <p:cNvSpPr>
            <a:spLocks noGrp="1"/>
          </p:cNvSpPr>
          <p:nvPr/>
        </p:nvSpPr>
        <p:spPr>
          <a:xfrm>
            <a:off x="577215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BAB8C4-6406-4FB4-BB23-5B8B900F376D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D17BA-9C9F-4C8E-B98D-D3DCB41D42C7}"/>
              </a:ext>
            </a:extLst>
          </p:cNvPr>
          <p:cNvSpPr>
            <a:spLocks noGrp="1"/>
          </p:cNvSpPr>
          <p:nvPr/>
        </p:nvSpPr>
        <p:spPr>
          <a:xfrm>
            <a:off x="621030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CB948B-DC2B-4060-8C34-9860D297A139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47" lnSpcReduction="1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Extract chunks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475434-4118-4BBF-B5A7-95E755AB2706}"/>
              </a:ext>
            </a:extLst>
          </p:cNvPr>
          <p:cNvSpPr>
            <a:spLocks noGrp="1"/>
          </p:cNvSpPr>
          <p:nvPr/>
        </p:nvSpPr>
        <p:spPr>
          <a:xfrm>
            <a:off x="621030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575" lnSpcReduction="10000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Sections and chunks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B410AC-C569-4BFC-8F3E-BB19EF429150}"/>
              </a:ext>
            </a:extLst>
          </p:cNvPr>
          <p:cNvSpPr>
            <a:spLocks noGrp="1"/>
          </p:cNvSpPr>
          <p:nvPr/>
        </p:nvSpPr>
        <p:spPr>
          <a:xfrm>
            <a:off x="762000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F7346A-5384-4A1F-88BC-6399A78DBB51}"/>
              </a:ext>
            </a:extLst>
          </p:cNvPr>
          <p:cNvSpPr>
            <a:spLocks noGrp="1"/>
          </p:cNvSpPr>
          <p:nvPr/>
        </p:nvSpPr>
        <p:spPr>
          <a:xfrm>
            <a:off x="794385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755A07-C6E9-490F-A8AC-249CA518C661}"/>
              </a:ext>
            </a:extLst>
          </p:cNvPr>
          <p:cNvSpPr>
            <a:spLocks noGrp="1"/>
          </p:cNvSpPr>
          <p:nvPr/>
        </p:nvSpPr>
        <p:spPr>
          <a:xfrm>
            <a:off x="805815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A4D0EB-0499-4D68-92E9-8856E716FEA8}"/>
              </a:ext>
            </a:extLst>
          </p:cNvPr>
          <p:cNvSpPr>
            <a:spLocks noGrp="1"/>
          </p:cNvSpPr>
          <p:nvPr/>
        </p:nvSpPr>
        <p:spPr>
          <a:xfrm>
            <a:off x="811530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9167" lnSpcReduction="1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Create embeddings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06160C-4966-431C-BD7A-488F7E45FAA0}"/>
              </a:ext>
            </a:extLst>
          </p:cNvPr>
          <p:cNvSpPr>
            <a:spLocks noGrp="1"/>
          </p:cNvSpPr>
          <p:nvPr/>
        </p:nvSpPr>
        <p:spPr>
          <a:xfrm>
            <a:off x="805815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pgvector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3FAC467-32F0-4EC4-9879-6CEFC356ED52}"/>
              </a:ext>
            </a:extLst>
          </p:cNvPr>
          <p:cNvSpPr>
            <a:spLocks noGrp="1"/>
          </p:cNvSpPr>
          <p:nvPr/>
        </p:nvSpPr>
        <p:spPr>
          <a:xfrm>
            <a:off x="946785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F53A1AB-B906-47E1-902D-E8287221B10E}"/>
              </a:ext>
            </a:extLst>
          </p:cNvPr>
          <p:cNvSpPr>
            <a:spLocks noGrp="1"/>
          </p:cNvSpPr>
          <p:nvPr/>
        </p:nvSpPr>
        <p:spPr>
          <a:xfrm>
            <a:off x="979170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10243E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255081-0201-4FDF-8022-43A297737AB5}"/>
              </a:ext>
            </a:extLst>
          </p:cNvPr>
          <p:cNvSpPr>
            <a:spLocks noGrp="1"/>
          </p:cNvSpPr>
          <p:nvPr/>
        </p:nvSpPr>
        <p:spPr>
          <a:xfrm>
            <a:off x="990600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3458C8-4127-48C6-984D-7F90A82970AD}"/>
              </a:ext>
            </a:extLst>
          </p:cNvPr>
          <p:cNvSpPr>
            <a:spLocks noGrp="1"/>
          </p:cNvSpPr>
          <p:nvPr/>
        </p:nvSpPr>
        <p:spPr>
          <a:xfrm>
            <a:off x="996315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77"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Merge graph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F3BDCB-35A1-450D-BD6F-B2B63632BC29}"/>
              </a:ext>
            </a:extLst>
          </p:cNvPr>
          <p:cNvSpPr>
            <a:spLocks noGrp="1"/>
          </p:cNvSpPr>
          <p:nvPr/>
        </p:nvSpPr>
        <p:spPr>
          <a:xfrm>
            <a:off x="990600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Apache AGE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B52B9E1-C9B0-4A32-A226-ECF9CDC23B33}"/>
              </a:ext>
            </a:extLst>
          </p:cNvPr>
          <p:cNvSpPr>
            <a:spLocks noGrp="1"/>
          </p:cNvSpPr>
          <p:nvPr/>
        </p:nvSpPr>
        <p:spPr>
          <a:xfrm>
            <a:off x="1047750" y="3943350"/>
            <a:ext cx="10096500" cy="1143000"/>
          </a:xfrm>
          <a:prstGeom prst="roundRect">
            <a:avLst>
              <a:gd name="adj" fmla="val 6667"/>
            </a:avLst>
          </a:prstGeom>
          <a:solidFill>
            <a:srgbClr val="E9F5F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FE1C15-D588-4047-AF3A-40175385C0E3}"/>
              </a:ext>
            </a:extLst>
          </p:cNvPr>
          <p:cNvSpPr>
            <a:spLocks noGrp="1"/>
          </p:cNvSpPr>
          <p:nvPr/>
        </p:nvSpPr>
        <p:spPr>
          <a:xfrm>
            <a:off x="1390650" y="41719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Canonical data 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C90074-CE4C-4193-9F1A-B8EA6EB5429B}"/>
              </a:ext>
            </a:extLst>
          </p:cNvPr>
          <p:cNvSpPr>
            <a:spLocks noGrp="1"/>
          </p:cNvSpPr>
          <p:nvPr/>
        </p:nvSpPr>
        <p:spPr>
          <a:xfrm>
            <a:off x="1390650" y="455295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958" lnSpcReduction="10000"/>
          </a:bodyPr>
          <a:lstStyle/>
          <a:p>
            <a:pPr algn="l"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Relational tables remain the source of truth. Apache AGE holds a deterministic graph projection that the platform can rebuild from PostgreSQL.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BCD4ED-97FF-4023-BEDB-0E3788616FAD}"/>
              </a:ext>
            </a:extLst>
          </p:cNvPr>
          <p:cNvSpPr>
            <a:spLocks noGrp="1"/>
          </p:cNvSpPr>
          <p:nvPr/>
        </p:nvSpPr>
        <p:spPr>
          <a:xfrm>
            <a:off x="1714500" y="5619750"/>
            <a:ext cx="8763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Once projected, content becomes available to search, chat, the graph explorer, and MCP clients.</a:t>
            </a:r>
          </a:p>
        </p:txBody>
      </p:sp>
    </p:spTree>
    <p:extLst>
      <p:ext uri="{BB962C8B-B14F-4D97-AF65-F5344CB8AC3E}">
        <p14:creationId xmlns:p14="http://schemas.microsoft.com/office/powerpoint/2010/main" val="209137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4849A63-4C93-4C0A-BCA1-19D7BD6324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D016F7-2232-4C42-AB18-34296748A24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Hybrid retrieval combines three evidence signals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6109C0-D1BA-4DB3-AA02-A4EA78256710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04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7FB2C00-0FE1-4C88-99D7-E6FE2B88AB9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9C913C-7922-4D45-93C1-97FC16CF1171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3238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1760C5-B869-4166-9F1D-ED5B3003DF08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B1AB7-FBB3-4A53-8C5E-4513E7502F74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Keyword candidates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179588-DA8D-49F9-9E08-53464D03EB5D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Exact terms, filenames, acronyms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720B63-BEF2-415B-A3CF-27C12EF448B1}"/>
              </a:ext>
            </a:extLst>
          </p:cNvPr>
          <p:cNvSpPr>
            <a:spLocks noGrp="1"/>
          </p:cNvSpPr>
          <p:nvPr/>
        </p:nvSpPr>
        <p:spPr>
          <a:xfrm>
            <a:off x="4476750" y="1562100"/>
            <a:ext cx="3238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14FD75-14B7-41FD-964A-15AC1EC6863B}"/>
              </a:ext>
            </a:extLst>
          </p:cNvPr>
          <p:cNvSpPr>
            <a:spLocks noGrp="1"/>
          </p:cNvSpPr>
          <p:nvPr/>
        </p:nvSpPr>
        <p:spPr>
          <a:xfrm>
            <a:off x="4476750" y="1562100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B874C1-7673-4644-AB24-834AB3B467EC}"/>
              </a:ext>
            </a:extLst>
          </p:cNvPr>
          <p:cNvSpPr>
            <a:spLocks noGrp="1"/>
          </p:cNvSpPr>
          <p:nvPr/>
        </p:nvSpPr>
        <p:spPr>
          <a:xfrm>
            <a:off x="4705350" y="18478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Vector candidates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D72558-72B3-44C6-A29D-C7F4DA2D610C}"/>
              </a:ext>
            </a:extLst>
          </p:cNvPr>
          <p:cNvSpPr>
            <a:spLocks noGrp="1"/>
          </p:cNvSpPr>
          <p:nvPr/>
        </p:nvSpPr>
        <p:spPr>
          <a:xfrm>
            <a:off x="4705350" y="226695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Semantic similarity for natural-language questions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05F242-4EE9-414B-9366-F142C5AE5634}"/>
              </a:ext>
            </a:extLst>
          </p:cNvPr>
          <p:cNvSpPr>
            <a:spLocks noGrp="1"/>
          </p:cNvSpPr>
          <p:nvPr/>
        </p:nvSpPr>
        <p:spPr>
          <a:xfrm>
            <a:off x="8286750" y="1562100"/>
            <a:ext cx="3238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FD6A85-76B8-41E0-9D78-58B2CD644C11}"/>
              </a:ext>
            </a:extLst>
          </p:cNvPr>
          <p:cNvSpPr>
            <a:spLocks noGrp="1"/>
          </p:cNvSpPr>
          <p:nvPr/>
        </p:nvSpPr>
        <p:spPr>
          <a:xfrm>
            <a:off x="8286750" y="1562100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4A8F7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973DBF-BD32-4F63-A50B-283DEC032FB0}"/>
              </a:ext>
            </a:extLst>
          </p:cNvPr>
          <p:cNvSpPr>
            <a:spLocks noGrp="1"/>
          </p:cNvSpPr>
          <p:nvPr/>
        </p:nvSpPr>
        <p:spPr>
          <a:xfrm>
            <a:off x="8515350" y="18478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Graph candidates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9363E-8B84-4CD8-A933-248E069148CC}"/>
              </a:ext>
            </a:extLst>
          </p:cNvPr>
          <p:cNvSpPr>
            <a:spLocks noGrp="1"/>
          </p:cNvSpPr>
          <p:nvPr/>
        </p:nvSpPr>
        <p:spPr>
          <a:xfrm>
            <a:off x="8515350" y="226695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Verified relationships and multi-hop context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61E49C6-6542-41F3-A83E-490BAF8D5337}"/>
              </a:ext>
            </a:extLst>
          </p:cNvPr>
          <p:cNvSpPr>
            <a:spLocks noGrp="1"/>
          </p:cNvSpPr>
          <p:nvPr/>
        </p:nvSpPr>
        <p:spPr>
          <a:xfrm>
            <a:off x="2286000" y="2971800"/>
            <a:ext cx="0" cy="361950"/>
          </a:xfrm>
          <a:prstGeom prst="line">
            <a:avLst/>
          </a:prstGeom>
          <a:noFill/>
          <a:ln w="28575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23EB551-C5DC-4074-B073-4C7CA9B700E0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190750" cy="0"/>
          </a:xfrm>
          <a:prstGeom prst="line">
            <a:avLst/>
          </a:prstGeom>
          <a:noFill/>
          <a:ln w="28575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63093ECA-CD15-4B1D-9E9D-AAAFA3C3AD86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0" cy="247650"/>
          </a:xfrm>
          <a:prstGeom prst="line">
            <a:avLst/>
          </a:prstGeom>
          <a:noFill/>
          <a:ln w="28575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107AB7F-C939-41B0-833C-281A0ABAFCA0}"/>
              </a:ext>
            </a:extLst>
          </p:cNvPr>
          <p:cNvSpPr>
            <a:spLocks noGrp="1"/>
          </p:cNvSpPr>
          <p:nvPr/>
        </p:nvSpPr>
        <p:spPr>
          <a:xfrm>
            <a:off x="6096000" y="2971800"/>
            <a:ext cx="0" cy="609600"/>
          </a:xfrm>
          <a:prstGeom prst="line">
            <a:avLst/>
          </a:prstGeom>
          <a:noFill/>
          <a:ln w="28575">
            <a:solidFill>
              <a:srgbClr val="176B8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7CC1F54-BD41-4A52-B03C-9974A6656D50}"/>
              </a:ext>
            </a:extLst>
          </p:cNvPr>
          <p:cNvSpPr>
            <a:spLocks noGrp="1"/>
          </p:cNvSpPr>
          <p:nvPr/>
        </p:nvSpPr>
        <p:spPr>
          <a:xfrm>
            <a:off x="9906000" y="2971800"/>
            <a:ext cx="0" cy="361950"/>
          </a:xfrm>
          <a:prstGeom prst="line">
            <a:avLst/>
          </a:prstGeom>
          <a:noFill/>
          <a:ln w="28575">
            <a:solidFill>
              <a:srgbClr val="4A8F7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3652ECEA-221A-477B-89F5-0710095F0515}"/>
              </a:ext>
            </a:extLst>
          </p:cNvPr>
          <p:cNvSpPr>
            <a:spLocks noGrp="1"/>
          </p:cNvSpPr>
          <p:nvPr/>
        </p:nvSpPr>
        <p:spPr>
          <a:xfrm>
            <a:off x="7715250" y="3333750"/>
            <a:ext cx="2190750" cy="0"/>
          </a:xfrm>
          <a:prstGeom prst="line">
            <a:avLst/>
          </a:prstGeom>
          <a:noFill/>
          <a:ln w="28575">
            <a:solidFill>
              <a:srgbClr val="4A8F7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416232FA-ECEC-421D-BC76-638DB7B78A45}"/>
              </a:ext>
            </a:extLst>
          </p:cNvPr>
          <p:cNvSpPr>
            <a:spLocks noGrp="1"/>
          </p:cNvSpPr>
          <p:nvPr/>
        </p:nvSpPr>
        <p:spPr>
          <a:xfrm>
            <a:off x="7715250" y="3333750"/>
            <a:ext cx="0" cy="247650"/>
          </a:xfrm>
          <a:prstGeom prst="line">
            <a:avLst/>
          </a:prstGeom>
          <a:noFill/>
          <a:ln w="28575">
            <a:solidFill>
              <a:srgbClr val="4A8F7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71A8A7-16AC-4764-8207-658194BF58DD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3238500" cy="838200"/>
          </a:xfrm>
          <a:prstGeom prst="roundRect">
            <a:avLst>
              <a:gd name="adj" fmla="val 9091"/>
            </a:avLst>
          </a:prstGeom>
          <a:solidFill>
            <a:srgbClr val="10243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F43DF6-90F6-48CB-AE36-6D117863C99C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Reciprocal Rank Fusion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8592DBF-A5D4-48D2-97F3-CCABB558828E}"/>
              </a:ext>
            </a:extLst>
          </p:cNvPr>
          <p:cNvSpPr>
            <a:spLocks noGrp="1"/>
          </p:cNvSpPr>
          <p:nvPr/>
        </p:nvSpPr>
        <p:spPr>
          <a:xfrm>
            <a:off x="6096000" y="4419600"/>
            <a:ext cx="0" cy="552450"/>
          </a:xfrm>
          <a:prstGeom prst="line">
            <a:avLst/>
          </a:prstGeom>
          <a:noFill/>
          <a:ln w="38100">
            <a:solidFill>
              <a:srgbClr val="62C8C3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3189118-BB2A-465B-9471-6205C7EEA83A}"/>
              </a:ext>
            </a:extLst>
          </p:cNvPr>
          <p:cNvSpPr>
            <a:spLocks noGrp="1"/>
          </p:cNvSpPr>
          <p:nvPr/>
        </p:nvSpPr>
        <p:spPr>
          <a:xfrm>
            <a:off x="2990850" y="4972050"/>
            <a:ext cx="6210300" cy="952500"/>
          </a:xfrm>
          <a:prstGeom prst="roundRect">
            <a:avLst>
              <a:gd name="adj" fmla="val 8000"/>
            </a:avLst>
          </a:prstGeom>
          <a:solidFill>
            <a:srgbClr val="E9F5F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84D904-5556-4D2F-ACB4-88506E774872}"/>
              </a:ext>
            </a:extLst>
          </p:cNvPr>
          <p:cNvSpPr>
            <a:spLocks noGrp="1"/>
          </p:cNvSpPr>
          <p:nvPr/>
        </p:nvSpPr>
        <p:spPr>
          <a:xfrm>
            <a:off x="3295650" y="51244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Grounded answer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8457D-2DA0-473C-8AC2-A4644B74C53E}"/>
              </a:ext>
            </a:extLst>
          </p:cNvPr>
          <p:cNvSpPr>
            <a:spLocks noGrp="1"/>
          </p:cNvSpPr>
          <p:nvPr/>
        </p:nvSpPr>
        <p:spPr>
          <a:xfrm>
            <a:off x="3295650" y="542925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33" lnSpcReduction="20000"/>
          </a:bodyPr>
          <a:lstStyle/>
          <a:p>
            <a:pPr algn="l"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Citations plus relevant graph context</a:t>
            </a:r>
          </a:p>
        </p:txBody>
      </p:sp>
    </p:spTree>
    <p:extLst>
      <p:ext uri="{BB962C8B-B14F-4D97-AF65-F5344CB8AC3E}">
        <p14:creationId xmlns:p14="http://schemas.microsoft.com/office/powerpoint/2010/main" val="61077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CAED3CC-C500-423A-999B-5AC2D539E4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8AAD3-2A61-4B16-B84E-096279335F3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Why vector-only RAG breaks on connected questions</a:t>
            </a:r>
            <a:endParaRPr sz="255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487BB-66CE-4B03-87FB-44419FCB9265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05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0BAD971-338D-4F30-B2E7-CF28D853727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47E40-AC7C-4785-8DB7-360AAE6436C0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lang="en-IN"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FRAGMENT RETRIEVAL</a:t>
            </a:r>
            <a:endParaRPr sz="1275" b="1">
              <a:solidFill>
                <a:srgbClr val="176B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EC2CE-085C-4D8C-99B2-368382B402A3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81" lnSpcReduction="10000"/>
          </a:bodyPr>
          <a:lstStyle/>
          <a:p>
            <a:pPr algn="l"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Finds relevant passages, but treats each chunk in isolation</a:t>
            </a:r>
            <a:endParaRPr sz="21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AF4103-4972-4F86-884B-0D7BE8B050E5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4286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Loses surrounding document structure
Cannot natively connect evidence across sources</a:t>
            </a:r>
            <a:endParaRPr sz="150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D1FD3AC-927C-4E3D-918B-39750C2ABA9F}"/>
              </a:ext>
            </a:extLst>
          </p:cNvPr>
          <p:cNvSpPr>
            <a:spLocks noGrp="1"/>
          </p:cNvSpPr>
          <p:nvPr/>
        </p:nvSpPr>
        <p:spPr>
          <a:xfrm>
            <a:off x="5943600" y="1428750"/>
            <a:ext cx="0" cy="4381500"/>
          </a:xfrm>
          <a:prstGeom prst="line">
            <a:avLst/>
          </a:prstGeom>
          <a:noFill/>
          <a:ln w="19050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0FF10-9FAD-4928-BA2E-83AA85ECECCE}"/>
              </a:ext>
            </a:extLst>
          </p:cNvPr>
          <p:cNvSpPr>
            <a:spLocks noGrp="1"/>
          </p:cNvSpPr>
          <p:nvPr/>
        </p:nvSpPr>
        <p:spPr>
          <a:xfrm>
            <a:off x="6629400" y="14287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lang="en-IN" sz="1275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DATASET REASONING</a:t>
            </a:r>
            <a:endParaRPr sz="1275" b="1">
              <a:solidFill>
                <a:srgbClr val="4A8F7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690CA-BF87-4C76-A746-382822FDF503}"/>
              </a:ext>
            </a:extLst>
          </p:cNvPr>
          <p:cNvSpPr>
            <a:spLocks noGrp="1"/>
          </p:cNvSpPr>
          <p:nvPr/>
        </p:nvSpPr>
        <p:spPr>
          <a:xfrm>
            <a:off x="6629400" y="18288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81" lnSpcReduction="10000"/>
          </a:bodyPr>
          <a:lstStyle/>
          <a:p>
            <a:pPr algn="l"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Questions may require the corpus—not one matching passage</a:t>
            </a:r>
            <a:endParaRPr sz="21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565EF-0EEE-4A72-9A97-E8500AE815A5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4381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Themes, central entities, and multi-hop relationships span many documents
Similarity overlap increases as the collection grows</a:t>
            </a:r>
            <a:endParaRPr sz="150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76C8CC-A0C2-4643-91AB-92C55D5868D1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10287000" cy="1314450"/>
          </a:xfrm>
          <a:prstGeom prst="roundRect">
            <a:avLst>
              <a:gd name="adj" fmla="val 5797"/>
            </a:avLst>
          </a:prstGeom>
          <a:solidFill>
            <a:srgbClr val="10243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C5110-E27E-49D0-8DC3-E01714355B81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00" lnSpcReduction="20000"/>
          </a:bodyPr>
          <a:lstStyle/>
          <a:p>
            <a:pPr algn="l">
              <a:defRPr sz="1125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lang="en-IN" sz="1125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Teaching implication</a:t>
            </a:r>
            <a:endParaRPr sz="1125" b="1">
              <a:solidFill>
                <a:srgbClr val="62C8C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39C451-18D5-4F9E-A492-434560323E29}"/>
              </a:ext>
            </a:extLst>
          </p:cNvPr>
          <p:cNvSpPr>
            <a:spLocks noGrp="1"/>
          </p:cNvSpPr>
          <p:nvPr/>
        </p:nvSpPr>
        <p:spPr>
          <a:xfrm>
            <a:off x="990600" y="48958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874" lnSpcReduction="20000"/>
          </a:bodyPr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vector retrieval for direct evidence; add graph structure when answers depend on connections.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B7ABA-6662-4488-A28D-A392626A6B24}"/>
              </a:ext>
            </a:extLst>
          </p:cNvPr>
          <p:cNvSpPr>
            <a:spLocks noGrp="1"/>
          </p:cNvSpPr>
          <p:nvPr/>
        </p:nvSpPr>
        <p:spPr>
          <a:xfrm>
            <a:off x="6286500" y="4724400"/>
            <a:ext cx="4191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2"/>
          </a:bodyPr>
          <a:lstStyle/>
          <a:p>
            <a:pPr algn="l">
              <a:defRPr sz="15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GraphRAG complements vector search rather than replacing it.</a:t>
            </a:r>
            <a:endParaRPr sz="1500" b="0">
              <a:solidFill>
                <a:srgbClr val="DDE8E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9311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CAED3CC-C500-423A-999B-5AC2D539E4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8AAD3-2A61-4B16-B84E-096279335F3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Where GraphRAG adds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487BB-66CE-4B03-87FB-44419FCB9265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06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0BAD971-338D-4F30-B2E7-CF28D853727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47E40-AC7C-4785-8DB7-360AAE6436C0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VECTOR 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EC2CE-085C-4D8C-99B2-368382B402A3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81" lnSpcReduction="10000"/>
          </a:bodyPr>
          <a:lstStyle/>
          <a:p>
            <a:pPr algn="l"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Finds passages that sound similar to the question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AF4103-4972-4F86-884B-0D7BE8B050E5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4286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Strong for paraphrases and conceptual similarity</a:t>
            </a:r>
          </a:p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Does not natively traverse explicit relationships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D1FD3AC-927C-4E3D-918B-39750C2ABA9F}"/>
              </a:ext>
            </a:extLst>
          </p:cNvPr>
          <p:cNvSpPr>
            <a:spLocks noGrp="1"/>
          </p:cNvSpPr>
          <p:nvPr/>
        </p:nvSpPr>
        <p:spPr>
          <a:xfrm>
            <a:off x="5943600" y="1428750"/>
            <a:ext cx="0" cy="4381500"/>
          </a:xfrm>
          <a:prstGeom prst="line">
            <a:avLst/>
          </a:prstGeom>
          <a:noFill/>
          <a:ln w="19050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0FF10-9FAD-4928-BA2E-83AA85ECECCE}"/>
              </a:ext>
            </a:extLst>
          </p:cNvPr>
          <p:cNvSpPr>
            <a:spLocks noGrp="1"/>
          </p:cNvSpPr>
          <p:nvPr/>
        </p:nvSpPr>
        <p:spPr>
          <a:xfrm>
            <a:off x="6629400" y="14287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GRAPHRAG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690CA-BF87-4C76-A746-382822FDF503}"/>
              </a:ext>
            </a:extLst>
          </p:cNvPr>
          <p:cNvSpPr>
            <a:spLocks noGrp="1"/>
          </p:cNvSpPr>
          <p:nvPr/>
        </p:nvSpPr>
        <p:spPr>
          <a:xfrm>
            <a:off x="6629400" y="18288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81" lnSpcReduction="10000"/>
          </a:bodyPr>
          <a:lstStyle/>
          <a:p>
            <a:pPr algn="l"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Finds evidence and follows verified course relationships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565EF-0EEE-4A72-9A97-E8500AE815A5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4381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Handles prerequisites, membership, provenance, and shared technology</a:t>
            </a:r>
          </a:p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Provides the path behind the answer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76C8CC-A0C2-4643-91AB-92C55D5868D1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10287000" cy="1314450"/>
          </a:xfrm>
          <a:prstGeom prst="roundRect">
            <a:avLst>
              <a:gd name="adj" fmla="val 5797"/>
            </a:avLst>
          </a:prstGeom>
          <a:solidFill>
            <a:srgbClr val="10243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C5110-E27E-49D0-8DC3-E01714355B81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39C451-18D5-4F9E-A492-434560323E29}"/>
              </a:ext>
            </a:extLst>
          </p:cNvPr>
          <p:cNvSpPr>
            <a:spLocks noGrp="1"/>
          </p:cNvSpPr>
          <p:nvPr/>
        </p:nvSpPr>
        <p:spPr>
          <a:xfrm>
            <a:off x="990600" y="48958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874" lnSpcReduction="10000"/>
          </a:bodyPr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modules should I complete before the MCP module?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B7ABA-6662-4488-A28D-A392626A6B24}"/>
              </a:ext>
            </a:extLst>
          </p:cNvPr>
          <p:cNvSpPr>
            <a:spLocks noGrp="1"/>
          </p:cNvSpPr>
          <p:nvPr/>
        </p:nvSpPr>
        <p:spPr>
          <a:xfrm>
            <a:off x="6286500" y="4724400"/>
            <a:ext cx="4191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2"/>
          </a:bodyPr>
          <a:lstStyle/>
          <a:p>
            <a:pPr algn="l">
              <a:defRPr sz="15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GraphRAG can follow prerequisite and module relationships instead of relying on mentions alone.</a:t>
            </a:r>
          </a:p>
        </p:txBody>
      </p:sp>
    </p:spTree>
    <p:extLst>
      <p:ext uri="{BB962C8B-B14F-4D97-AF65-F5344CB8AC3E}">
        <p14:creationId xmlns:p14="http://schemas.microsoft.com/office/powerpoint/2010/main" val="138839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2BDF202-C1BC-4DC3-9EE9-D03B3C76A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A3FD15-D602-42E5-A060-B44B0A97E54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GraphRAG builds structure before it answers</a:t>
            </a:r>
            <a:endParaRPr sz="255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10C7FD-CD57-4459-A5D0-7A7523775C0B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07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FADF2C1-8B03-4F2E-B086-C2E8BB3EB5A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3806E6-8473-4A20-B423-610E8EE3A322}"/>
              </a:ext>
            </a:extLst>
          </p:cNvPr>
          <p:cNvSpPr>
            <a:spLocks noGrp="1"/>
          </p:cNvSpPr>
          <p:nvPr/>
        </p:nvSpPr>
        <p:spPr>
          <a:xfrm>
            <a:off x="55245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B657D-155E-45C1-82AB-19CF91C964A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862E3-EB59-4472-9F5D-F06ACADDBEB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377" lnSpcReduction="2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IN"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Define ontology</a:t>
            </a:r>
            <a:endParaRPr sz="15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31211-C6CA-4642-83C9-5CCDBA13098B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39" lnSpcReduction="10000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Entity + relation types</a:t>
            </a:r>
            <a:endParaRPr sz="105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5739F25-8DC5-42D7-8A9F-4B67E134598D}"/>
              </a:ext>
            </a:extLst>
          </p:cNvPr>
          <p:cNvSpPr>
            <a:spLocks noGrp="1"/>
          </p:cNvSpPr>
          <p:nvPr/>
        </p:nvSpPr>
        <p:spPr>
          <a:xfrm>
            <a:off x="207645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C609B1-1C30-430C-AA3A-813D0522482E}"/>
              </a:ext>
            </a:extLst>
          </p:cNvPr>
          <p:cNvSpPr>
            <a:spLocks noGrp="1"/>
          </p:cNvSpPr>
          <p:nvPr/>
        </p:nvSpPr>
        <p:spPr>
          <a:xfrm>
            <a:off x="240030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ECC61F-8DF7-49B8-A0D6-0CFF66A11C22}"/>
              </a:ext>
            </a:extLst>
          </p:cNvPr>
          <p:cNvSpPr>
            <a:spLocks noGrp="1"/>
          </p:cNvSpPr>
          <p:nvPr/>
        </p:nvSpPr>
        <p:spPr>
          <a:xfrm>
            <a:off x="251460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A5EDCA-C994-46B9-8748-C967A8D39DD9}"/>
              </a:ext>
            </a:extLst>
          </p:cNvPr>
          <p:cNvSpPr>
            <a:spLocks noGrp="1"/>
          </p:cNvSpPr>
          <p:nvPr/>
        </p:nvSpPr>
        <p:spPr>
          <a:xfrm>
            <a:off x="257175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247" lnSpcReduction="2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IN"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Extract evidence</a:t>
            </a:r>
            <a:endParaRPr sz="15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4C0BF8-64D0-4657-894B-4E95980B01E9}"/>
              </a:ext>
            </a:extLst>
          </p:cNvPr>
          <p:cNvSpPr>
            <a:spLocks noGrp="1"/>
          </p:cNvSpPr>
          <p:nvPr/>
        </p:nvSpPr>
        <p:spPr>
          <a:xfrm>
            <a:off x="251460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18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LLM structured output</a:t>
            </a:r>
            <a:endParaRPr sz="105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D76C9ED-74AD-441B-8F3F-3D1745F2C85D}"/>
              </a:ext>
            </a:extLst>
          </p:cNvPr>
          <p:cNvSpPr>
            <a:spLocks noGrp="1"/>
          </p:cNvSpPr>
          <p:nvPr/>
        </p:nvSpPr>
        <p:spPr>
          <a:xfrm>
            <a:off x="392430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5168C2-54EE-4DA5-8913-5B945E9E2804}"/>
              </a:ext>
            </a:extLst>
          </p:cNvPr>
          <p:cNvSpPr>
            <a:spLocks noGrp="1"/>
          </p:cNvSpPr>
          <p:nvPr/>
        </p:nvSpPr>
        <p:spPr>
          <a:xfrm>
            <a:off x="424815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2D803-171F-46C4-9F8F-E2A3F6D400C6}"/>
              </a:ext>
            </a:extLst>
          </p:cNvPr>
          <p:cNvSpPr>
            <a:spLocks noGrp="1"/>
          </p:cNvSpPr>
          <p:nvPr/>
        </p:nvSpPr>
        <p:spPr>
          <a:xfrm>
            <a:off x="436245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C27963-7BB8-4DD0-BC51-70719977697C}"/>
              </a:ext>
            </a:extLst>
          </p:cNvPr>
          <p:cNvSpPr>
            <a:spLocks noGrp="1"/>
          </p:cNvSpPr>
          <p:nvPr/>
        </p:nvSpPr>
        <p:spPr>
          <a:xfrm>
            <a:off x="441960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282" lnSpcReduction="2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IN"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Normalize entities</a:t>
            </a:r>
            <a:endParaRPr sz="15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6492B9-B215-4FB3-95AB-B3FED6F3EF4C}"/>
              </a:ext>
            </a:extLst>
          </p:cNvPr>
          <p:cNvSpPr>
            <a:spLocks noGrp="1"/>
          </p:cNvSpPr>
          <p:nvPr/>
        </p:nvSpPr>
        <p:spPr>
          <a:xfrm>
            <a:off x="436245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Merge names and aliases</a:t>
            </a:r>
            <a:endParaRPr sz="105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B729500-DB69-49AC-8BE6-1C2895A80A78}"/>
              </a:ext>
            </a:extLst>
          </p:cNvPr>
          <p:cNvSpPr>
            <a:spLocks noGrp="1"/>
          </p:cNvSpPr>
          <p:nvPr/>
        </p:nvSpPr>
        <p:spPr>
          <a:xfrm>
            <a:off x="577215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BAB8C4-6406-4FB4-BB23-5B8B900F376D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D17BA-9C9F-4C8E-B98D-D3DCB41D42C7}"/>
              </a:ext>
            </a:extLst>
          </p:cNvPr>
          <p:cNvSpPr>
            <a:spLocks noGrp="1"/>
          </p:cNvSpPr>
          <p:nvPr/>
        </p:nvSpPr>
        <p:spPr>
          <a:xfrm>
            <a:off x="621030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CB948B-DC2B-4060-8C34-9860D297A139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47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IN"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Build graph</a:t>
            </a:r>
            <a:endParaRPr sz="15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475434-4118-4BBF-B5A7-95E755AB2706}"/>
              </a:ext>
            </a:extLst>
          </p:cNvPr>
          <p:cNvSpPr>
            <a:spLocks noGrp="1"/>
          </p:cNvSpPr>
          <p:nvPr/>
        </p:nvSpPr>
        <p:spPr>
          <a:xfrm>
            <a:off x="621030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575" lnSpcReduction="20000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Nodes, edges, provenance</a:t>
            </a:r>
            <a:endParaRPr sz="105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B410AC-C569-4BFC-8F3E-BB19EF429150}"/>
              </a:ext>
            </a:extLst>
          </p:cNvPr>
          <p:cNvSpPr>
            <a:spLocks noGrp="1"/>
          </p:cNvSpPr>
          <p:nvPr/>
        </p:nvSpPr>
        <p:spPr>
          <a:xfrm>
            <a:off x="762000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F7346A-5384-4A1F-88BC-6399A78DBB51}"/>
              </a:ext>
            </a:extLst>
          </p:cNvPr>
          <p:cNvSpPr>
            <a:spLocks noGrp="1"/>
          </p:cNvSpPr>
          <p:nvPr/>
        </p:nvSpPr>
        <p:spPr>
          <a:xfrm>
            <a:off x="794385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755A07-C6E9-490F-A8AC-249CA518C661}"/>
              </a:ext>
            </a:extLst>
          </p:cNvPr>
          <p:cNvSpPr>
            <a:spLocks noGrp="1"/>
          </p:cNvSpPr>
          <p:nvPr/>
        </p:nvSpPr>
        <p:spPr>
          <a:xfrm>
            <a:off x="805815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A4D0EB-0499-4D68-92E9-8856E716FEA8}"/>
              </a:ext>
            </a:extLst>
          </p:cNvPr>
          <p:cNvSpPr>
            <a:spLocks noGrp="1"/>
          </p:cNvSpPr>
          <p:nvPr/>
        </p:nvSpPr>
        <p:spPr>
          <a:xfrm>
            <a:off x="811530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20000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IN"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Detect communities</a:t>
            </a:r>
            <a:endParaRPr sz="15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06160C-4966-431C-BD7A-488F7E45FAA0}"/>
              </a:ext>
            </a:extLst>
          </p:cNvPr>
          <p:cNvSpPr>
            <a:spLocks noGrp="1"/>
          </p:cNvSpPr>
          <p:nvPr/>
        </p:nvSpPr>
        <p:spPr>
          <a:xfrm>
            <a:off x="805815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ctr">
              <a:defRPr sz="10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0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Related concept clusters</a:t>
            </a:r>
            <a:endParaRPr sz="105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3FAC467-32F0-4EC4-9879-6CEFC356ED52}"/>
              </a:ext>
            </a:extLst>
          </p:cNvPr>
          <p:cNvSpPr>
            <a:spLocks noGrp="1"/>
          </p:cNvSpPr>
          <p:nvPr/>
        </p:nvSpPr>
        <p:spPr>
          <a:xfrm>
            <a:off x="9467850" y="2533650"/>
            <a:ext cx="323850" cy="0"/>
          </a:xfrm>
          <a:prstGeom prst="line">
            <a:avLst/>
          </a:prstGeom>
          <a:noFill/>
          <a:ln w="38100">
            <a:solidFill>
              <a:srgbClr val="F0A24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F53A1AB-B906-47E1-902D-E8287221B10E}"/>
              </a:ext>
            </a:extLst>
          </p:cNvPr>
          <p:cNvSpPr>
            <a:spLocks noGrp="1"/>
          </p:cNvSpPr>
          <p:nvPr/>
        </p:nvSpPr>
        <p:spPr>
          <a:xfrm>
            <a:off x="9791700" y="198120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10243E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255081-0201-4FDF-8022-43A297737AB5}"/>
              </a:ext>
            </a:extLst>
          </p:cNvPr>
          <p:cNvSpPr>
            <a:spLocks noGrp="1"/>
          </p:cNvSpPr>
          <p:nvPr/>
        </p:nvSpPr>
        <p:spPr>
          <a:xfrm>
            <a:off x="9906000" y="20955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3458C8-4127-48C6-984D-7F90A82970AD}"/>
              </a:ext>
            </a:extLst>
          </p:cNvPr>
          <p:cNvSpPr>
            <a:spLocks noGrp="1"/>
          </p:cNvSpPr>
          <p:nvPr/>
        </p:nvSpPr>
        <p:spPr>
          <a:xfrm>
            <a:off x="9963150" y="240030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077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Summarize clusters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F3BDCB-35A1-450D-BD6F-B2B63632BC29}"/>
              </a:ext>
            </a:extLst>
          </p:cNvPr>
          <p:cNvSpPr>
            <a:spLocks noGrp="1"/>
          </p:cNvSpPr>
          <p:nvPr/>
        </p:nvSpPr>
        <p:spPr>
          <a:xfrm>
            <a:off x="9906000" y="281940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lang="en-IN" sz="105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Big-picture context</a:t>
            </a:r>
            <a:endParaRPr sz="1050" b="0">
              <a:solidFill>
                <a:srgbClr val="DDE8E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B52B9E1-C9B0-4A32-A226-ECF9CDC23B33}"/>
              </a:ext>
            </a:extLst>
          </p:cNvPr>
          <p:cNvSpPr>
            <a:spLocks noGrp="1"/>
          </p:cNvSpPr>
          <p:nvPr/>
        </p:nvSpPr>
        <p:spPr>
          <a:xfrm>
            <a:off x="1047750" y="3943350"/>
            <a:ext cx="10096500" cy="1143000"/>
          </a:xfrm>
          <a:prstGeom prst="roundRect">
            <a:avLst>
              <a:gd name="adj" fmla="val 6667"/>
            </a:avLst>
          </a:prstGeom>
          <a:solidFill>
            <a:srgbClr val="E9F5F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FE1C15-D588-4047-AF3A-40175385C0E3}"/>
              </a:ext>
            </a:extLst>
          </p:cNvPr>
          <p:cNvSpPr>
            <a:spLocks noGrp="1"/>
          </p:cNvSpPr>
          <p:nvPr/>
        </p:nvSpPr>
        <p:spPr>
          <a:xfrm>
            <a:off x="1390650" y="41719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lang="en-IN"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Two-layer index</a:t>
            </a:r>
            <a:endParaRPr sz="1275" b="1">
              <a:solidFill>
                <a:srgbClr val="176B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C90074-CE4C-4193-9F1A-B8EA6EB5429B}"/>
              </a:ext>
            </a:extLst>
          </p:cNvPr>
          <p:cNvSpPr>
            <a:spLocks noGrp="1"/>
          </p:cNvSpPr>
          <p:nvPr/>
        </p:nvSpPr>
        <p:spPr>
          <a:xfrm>
            <a:off x="1390650" y="455295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958" lnSpcReduction="20000"/>
          </a:bodyPr>
          <a:lstStyle/>
          <a:p>
            <a:pPr algn="l"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Vectors retrieve passages; the graph preserves explicit relationships. Community summaries add corpus-level context.</a:t>
            </a:r>
            <a:endParaRPr sz="18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BCD4ED-97FF-4023-BEDB-0E3788616FAD}"/>
              </a:ext>
            </a:extLst>
          </p:cNvPr>
          <p:cNvSpPr>
            <a:spLocks noGrp="1"/>
          </p:cNvSpPr>
          <p:nvPr/>
        </p:nvSpPr>
        <p:spPr>
          <a:xfrm>
            <a:off x="1714500" y="5619750"/>
            <a:ext cx="8763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US"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At query time, use graph paths for precise connections and summaries for broad synthesis.</a:t>
            </a:r>
            <a:endParaRPr sz="1425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137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6489975-6D53-441D-ADE2-C3F0621793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9150A1-FD95-4358-8A76-D03A5FEC6B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BITC implementation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35369F-7784-4AAD-81C5-347EB1CED6F5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08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31E2F4-3F13-4E22-83A5-7454BC62F9F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18AE82-6243-450D-8794-0DE1280008C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73DDC-5DE8-41B7-98BA-EC2F71D039BA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65109B-52DC-4DB4-8EEF-6FBDD3674896}"/>
              </a:ext>
            </a:extLst>
          </p:cNvPr>
          <p:cNvSpPr>
            <a:spLocks noGrp="1"/>
          </p:cNvSpPr>
          <p:nvPr/>
        </p:nvSpPr>
        <p:spPr>
          <a:xfrm>
            <a:off x="2724150" y="15049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Next.js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830CAD-A1DE-4B8B-81D1-B37D8D78AC99}"/>
              </a:ext>
            </a:extLst>
          </p:cNvPr>
          <p:cNvSpPr>
            <a:spLocks noGrp="1"/>
          </p:cNvSpPr>
          <p:nvPr/>
        </p:nvSpPr>
        <p:spPr>
          <a:xfrm>
            <a:off x="6172200" y="150495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Student and author interface, graph explorer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8339951-B636-453B-962F-58D111EDA7CB}"/>
              </a:ext>
            </a:extLst>
          </p:cNvPr>
          <p:cNvSpPr>
            <a:spLocks noGrp="1"/>
          </p:cNvSpPr>
          <p:nvPr/>
        </p:nvSpPr>
        <p:spPr>
          <a:xfrm>
            <a:off x="1143000" y="2133600"/>
            <a:ext cx="0" cy="171450"/>
          </a:xfrm>
          <a:prstGeom prst="line">
            <a:avLst/>
          </a:prstGeom>
          <a:noFill/>
          <a:ln w="28575">
            <a:solidFill>
              <a:srgbClr val="62C8C3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3067D7-6DDD-48E8-820F-3B942B64E8CE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19C79-7D2A-4C31-AA12-8528C4744360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A23882-5527-4359-B5E6-7F74DB69FFD4}"/>
              </a:ext>
            </a:extLst>
          </p:cNvPr>
          <p:cNvSpPr>
            <a:spLocks noGrp="1"/>
          </p:cNvSpPr>
          <p:nvPr/>
        </p:nvSpPr>
        <p:spPr>
          <a:xfrm>
            <a:off x="2724150" y="23812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FastAPI + MCP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8A6411-B49A-4676-8087-981637328BEB}"/>
              </a:ext>
            </a:extLst>
          </p:cNvPr>
          <p:cNvSpPr>
            <a:spLocks noGrp="1"/>
          </p:cNvSpPr>
          <p:nvPr/>
        </p:nvSpPr>
        <p:spPr>
          <a:xfrm>
            <a:off x="6172200" y="238125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Chat, administration, uploads, AI-client access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8F113B0-D027-4909-A15B-8A9A50C0FABD}"/>
              </a:ext>
            </a:extLst>
          </p:cNvPr>
          <p:cNvSpPr>
            <a:spLocks noGrp="1"/>
          </p:cNvSpPr>
          <p:nvPr/>
        </p:nvSpPr>
        <p:spPr>
          <a:xfrm>
            <a:off x="1143000" y="3009900"/>
            <a:ext cx="0" cy="171450"/>
          </a:xfrm>
          <a:prstGeom prst="line">
            <a:avLst/>
          </a:prstGeom>
          <a:noFill/>
          <a:ln w="28575">
            <a:solidFill>
              <a:srgbClr val="62C8C3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F396FD-C809-4A2A-8341-BEE2CF3E0295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E9F5F4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5BD8D5-8D76-430D-A8CA-A00BDD615E53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KNOWLEDGE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71D1E4-54FE-4A54-B3C8-77E2B202BEF6}"/>
              </a:ext>
            </a:extLst>
          </p:cNvPr>
          <p:cNvSpPr>
            <a:spLocks noGrp="1"/>
          </p:cNvSpPr>
          <p:nvPr/>
        </p:nvSpPr>
        <p:spPr>
          <a:xfrm>
            <a:off x="2724150" y="32575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07"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PostgreSQL + pgvector + 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D2AB38-B1DA-4C42-A76C-ADE4EEE51E91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Canonical metadata, vectors, graph projection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C8AE317-235D-4D2E-ADE9-03747BC65B37}"/>
              </a:ext>
            </a:extLst>
          </p:cNvPr>
          <p:cNvSpPr>
            <a:spLocks noGrp="1"/>
          </p:cNvSpPr>
          <p:nvPr/>
        </p:nvSpPr>
        <p:spPr>
          <a:xfrm>
            <a:off x="1143000" y="3886200"/>
            <a:ext cx="0" cy="171450"/>
          </a:xfrm>
          <a:prstGeom prst="line">
            <a:avLst/>
          </a:prstGeom>
          <a:noFill/>
          <a:ln w="28575">
            <a:solidFill>
              <a:srgbClr val="62C8C3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2144D3-D791-44A2-873A-688953BC3EFE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E40194-86B4-495B-AC88-5E756FD8EA31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AI + SAFETY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B590AF-B207-480E-88B4-4038FF7EB22D}"/>
              </a:ext>
            </a:extLst>
          </p:cNvPr>
          <p:cNvSpPr>
            <a:spLocks noGrp="1"/>
          </p:cNvSpPr>
          <p:nvPr/>
        </p:nvSpPr>
        <p:spPr>
          <a:xfrm>
            <a:off x="2724150" y="41338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98"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Azure OpenAI + Content Safety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AB9B2F-0F99-40DD-A86C-556A41193BCF}"/>
              </a:ext>
            </a:extLst>
          </p:cNvPr>
          <p:cNvSpPr>
            <a:spLocks noGrp="1"/>
          </p:cNvSpPr>
          <p:nvPr/>
        </p:nvSpPr>
        <p:spPr>
          <a:xfrm>
            <a:off x="6172200" y="413385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Embeddings, grounded responses, moderation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063CD64-69D3-4949-8F76-FD67A7ACFAEC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0" cy="171450"/>
          </a:xfrm>
          <a:prstGeom prst="line">
            <a:avLst/>
          </a:prstGeom>
          <a:noFill/>
          <a:ln w="28575">
            <a:solidFill>
              <a:srgbClr val="62C8C3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6D48418-9D91-474A-A38D-024A28D01CFA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7461BF-EC82-40AF-BCE5-5BEEA24C9BC3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F8506-40BA-4E90-A100-D685F211AE5E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Azure Blob Storage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2FFDFF-4759-48A2-891E-E60117DCCDF2}"/>
              </a:ext>
            </a:extLst>
          </p:cNvPr>
          <p:cNvSpPr>
            <a:spLocks noGrp="1"/>
          </p:cNvSpPr>
          <p:nvPr/>
        </p:nvSpPr>
        <p:spPr>
          <a:xfrm>
            <a:off x="6172200" y="501015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Original course documents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2F0A41-E01B-4550-82C8-C67A177DDC4E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737"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The single PostgreSQL platform keeps relational data, full-text search, vectors, and graph projection close together for teaching.</a:t>
            </a:r>
          </a:p>
        </p:txBody>
      </p:sp>
    </p:spTree>
    <p:extLst>
      <p:ext uri="{BB962C8B-B14F-4D97-AF65-F5344CB8AC3E}">
        <p14:creationId xmlns:p14="http://schemas.microsoft.com/office/powerpoint/2010/main" val="1417489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958272D-E4F6-41AE-889F-3EB9A73D44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09A1FC-5F2F-4B91-971A-21923D77B53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MCP extends the platform to compatible AI clients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40F9B-4326-425D-B43E-FB3652482F67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09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C0CBDA6-9B96-4CD5-B4F8-949B6738AA0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79BD56-898A-4EC5-ABAA-5FDA300B3DC6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3429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009FA-A6E1-4DB4-BB18-B446B518FA61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50"/>
          </a:bodyPr>
          <a:lstStyle/>
          <a:p>
            <a:pPr algn="l">
              <a:defRPr sz="20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Student Learning MCP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7B70A5-B858-4355-B888-A81D0A66C652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89" lnSpcReduction="10000"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Constrained tools for course consumers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9FC2DD-9F24-42A1-AFBE-8FA72EE4224B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E9F5F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A6ED77-7B6B-4DCA-917E-FC064FD57ECB}"/>
              </a:ext>
            </a:extLst>
          </p:cNvPr>
          <p:cNvSpPr>
            <a:spLocks noGrp="1"/>
          </p:cNvSpPr>
          <p:nvPr/>
        </p:nvSpPr>
        <p:spPr>
          <a:xfrm>
            <a:off x="1104900" y="316230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7D9066-E704-4F90-86E6-32F402008FCE}"/>
              </a:ext>
            </a:extLst>
          </p:cNvPr>
          <p:cNvSpPr>
            <a:spLocks noGrp="1"/>
          </p:cNvSpPr>
          <p:nvPr/>
        </p:nvSpPr>
        <p:spPr>
          <a:xfrm>
            <a:off x="2324100" y="316230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E9F5F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8D585C-B7BC-46F4-BB12-EA960C81C801}"/>
              </a:ext>
            </a:extLst>
          </p:cNvPr>
          <p:cNvSpPr>
            <a:spLocks noGrp="1"/>
          </p:cNvSpPr>
          <p:nvPr/>
        </p:nvSpPr>
        <p:spPr>
          <a:xfrm>
            <a:off x="2438400" y="316230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F76874-E736-47DC-8BA5-51B983C03EA6}"/>
              </a:ext>
            </a:extLst>
          </p:cNvPr>
          <p:cNvSpPr>
            <a:spLocks noGrp="1"/>
          </p:cNvSpPr>
          <p:nvPr/>
        </p:nvSpPr>
        <p:spPr>
          <a:xfrm>
            <a:off x="990600" y="3695700"/>
            <a:ext cx="2476500" cy="361950"/>
          </a:xfrm>
          <a:prstGeom prst="roundRect">
            <a:avLst>
              <a:gd name="adj" fmla="val 21053"/>
            </a:avLst>
          </a:prstGeom>
          <a:solidFill>
            <a:srgbClr val="E9F5F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E3A44-C206-4E13-B18D-432B195F62B2}"/>
              </a:ext>
            </a:extLst>
          </p:cNvPr>
          <p:cNvSpPr>
            <a:spLocks noGrp="1"/>
          </p:cNvSpPr>
          <p:nvPr/>
        </p:nvSpPr>
        <p:spPr>
          <a:xfrm>
            <a:off x="1104900" y="3695700"/>
            <a:ext cx="22479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Course browsing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780CD-5085-4510-884E-DBB7813475B6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630" lnSpcReduction="10000"/>
          </a:bodyPr>
          <a:lstStyle/>
          <a:p>
            <a:pPr algn="l">
              <a:defRPr sz="13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Designed for safe, source-grounded learning access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12EF17-531A-4085-8321-267544C4C0C9}"/>
              </a:ext>
            </a:extLst>
          </p:cNvPr>
          <p:cNvSpPr>
            <a:spLocks noGrp="1"/>
          </p:cNvSpPr>
          <p:nvPr/>
        </p:nvSpPr>
        <p:spPr>
          <a:xfrm>
            <a:off x="8058150" y="1524000"/>
            <a:ext cx="3429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BD72F6-C36A-4615-ABB3-2D89CC790FC7}"/>
              </a:ext>
            </a:extLst>
          </p:cNvPr>
          <p:cNvSpPr>
            <a:spLocks noGrp="1"/>
          </p:cNvSpPr>
          <p:nvPr/>
        </p:nvSpPr>
        <p:spPr>
          <a:xfrm>
            <a:off x="8343900" y="1809750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364" lnSpcReduction="10000"/>
          </a:bodyPr>
          <a:lstStyle/>
          <a:p>
            <a:pPr algn="l">
              <a:defRPr sz="20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Authoring Knowledge MCP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96FDB6-C6DD-4EF6-970A-8CBC4CF903DD}"/>
              </a:ext>
            </a:extLst>
          </p:cNvPr>
          <p:cNvSpPr>
            <a:spLocks noGrp="1"/>
          </p:cNvSpPr>
          <p:nvPr/>
        </p:nvSpPr>
        <p:spPr>
          <a:xfrm>
            <a:off x="8343900" y="251460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008" lnSpcReduction="10000"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Catalogue, module, source metadata, and graph-aware author tools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1FF413-6E9A-4822-A697-E7F3C6C6FD02}"/>
              </a:ext>
            </a:extLst>
          </p:cNvPr>
          <p:cNvSpPr>
            <a:spLocks noGrp="1"/>
          </p:cNvSpPr>
          <p:nvPr/>
        </p:nvSpPr>
        <p:spPr>
          <a:xfrm>
            <a:off x="8343900" y="346710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EEF5F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A357EC-3EAD-4097-917C-029F156C4922}"/>
              </a:ext>
            </a:extLst>
          </p:cNvPr>
          <p:cNvSpPr>
            <a:spLocks noGrp="1"/>
          </p:cNvSpPr>
          <p:nvPr/>
        </p:nvSpPr>
        <p:spPr>
          <a:xfrm>
            <a:off x="8458200" y="346710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Manage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35A3A2-C739-423E-99E6-E0986B516B91}"/>
              </a:ext>
            </a:extLst>
          </p:cNvPr>
          <p:cNvSpPr>
            <a:spLocks noGrp="1"/>
          </p:cNvSpPr>
          <p:nvPr/>
        </p:nvSpPr>
        <p:spPr>
          <a:xfrm>
            <a:off x="9677400" y="34671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EEF5F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3601E8-EB8A-4DD4-9E4F-5F39B9E68667}"/>
              </a:ext>
            </a:extLst>
          </p:cNvPr>
          <p:cNvSpPr>
            <a:spLocks noGrp="1"/>
          </p:cNvSpPr>
          <p:nvPr/>
        </p:nvSpPr>
        <p:spPr>
          <a:xfrm>
            <a:off x="9791700" y="3467100"/>
            <a:ext cx="1200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Inspect graph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6F05BC-6ED2-4DE3-B15B-90F126E0659F}"/>
              </a:ext>
            </a:extLst>
          </p:cNvPr>
          <p:cNvSpPr>
            <a:spLocks noGrp="1"/>
          </p:cNvSpPr>
          <p:nvPr/>
        </p:nvSpPr>
        <p:spPr>
          <a:xfrm>
            <a:off x="8343900" y="43053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630" lnSpcReduction="10000"/>
          </a:bodyPr>
          <a:lstStyle/>
          <a:p>
            <a:pPr algn="l">
              <a:defRPr sz="1350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Separates author capabilities from student access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436469-8E0C-4E22-B726-8D009E00A7EE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2476500" cy="1047750"/>
          </a:xfrm>
          <a:prstGeom prst="roundRect">
            <a:avLst>
              <a:gd name="adj" fmla="val 7273"/>
            </a:avLst>
          </a:prstGeom>
          <a:solidFill>
            <a:srgbClr val="10243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C43C53-46DD-45F2-ADB3-E3C0F26C6755}"/>
              </a:ext>
            </a:extLst>
          </p:cNvPr>
          <p:cNvSpPr>
            <a:spLocks noGrp="1"/>
          </p:cNvSpPr>
          <p:nvPr/>
        </p:nvSpPr>
        <p:spPr>
          <a:xfrm>
            <a:off x="4857750" y="266700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Hosted platform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A7075D-E908-4C04-8681-0F000D90773A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AEA2CA1-EF36-4D58-97B9-6D01FB79EB54}"/>
              </a:ext>
            </a:extLst>
          </p:cNvPr>
          <p:cNvSpPr>
            <a:spLocks noGrp="1"/>
          </p:cNvSpPr>
          <p:nvPr/>
        </p:nvSpPr>
        <p:spPr>
          <a:xfrm>
            <a:off x="4133850" y="3086100"/>
            <a:ext cx="723900" cy="0"/>
          </a:xfrm>
          <a:prstGeom prst="line">
            <a:avLst/>
          </a:prstGeom>
          <a:noFill/>
          <a:ln w="38100">
            <a:solidFill>
              <a:srgbClr val="62C8C3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18AD27C7-E4F0-4CAF-85C1-E7B8ABA4C52A}"/>
              </a:ext>
            </a:extLst>
          </p:cNvPr>
          <p:cNvSpPr>
            <a:spLocks noGrp="1"/>
          </p:cNvSpPr>
          <p:nvPr/>
        </p:nvSpPr>
        <p:spPr>
          <a:xfrm>
            <a:off x="7334250" y="3086100"/>
            <a:ext cx="723900" cy="0"/>
          </a:xfrm>
          <a:prstGeom prst="line">
            <a:avLst/>
          </a:prstGeom>
          <a:noFill/>
          <a:ln w="38100">
            <a:solidFill>
              <a:srgbClr val="62C8C3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8A2C94-EC20-45F1-A435-CF3A5B997D33}"/>
              </a:ext>
            </a:extLst>
          </p:cNvPr>
          <p:cNvSpPr>
            <a:spLocks noGrp="1"/>
          </p:cNvSpPr>
          <p:nvPr/>
        </p:nvSpPr>
        <p:spPr>
          <a:xfrm>
            <a:off x="1714500" y="5619750"/>
            <a:ext cx="8763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22"/>
          </a:bodyPr>
          <a:lstStyle/>
          <a:p>
            <a:pPr algn="ctr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Local stdio supports Claude-compatible clients. Remote Streamable HTTP supports hosted MCP clients.</a:t>
            </a:r>
          </a:p>
        </p:txBody>
      </p:sp>
    </p:spTree>
    <p:extLst>
      <p:ext uri="{BB962C8B-B14F-4D97-AF65-F5344CB8AC3E}">
        <p14:creationId xmlns:p14="http://schemas.microsoft.com/office/powerpoint/2010/main" val="1241646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CAED3CC-C500-423A-999B-5AC2D539E4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8AAD3-2A61-4B16-B84E-096279335F3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GraphRAG supports local and global reasoning</a:t>
            </a:r>
            <a:endParaRPr sz="255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487BB-66CE-4B03-87FB-44419FCB9265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10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0BAD971-338D-4F30-B2E7-CF28D853727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47E40-AC7C-4785-8DB7-360AAE6436C0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lang="en-IN"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LOCAL QUERY</a:t>
            </a:r>
            <a:endParaRPr sz="1275" b="1">
              <a:solidFill>
                <a:srgbClr val="176B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EC2CE-085C-4D8C-99B2-368382B402A3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81" lnSpcReduction="10000"/>
          </a:bodyPr>
          <a:lstStyle/>
          <a:p>
            <a:pPr algn="l"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Traverse entities and relationships for precise answers</a:t>
            </a:r>
            <a:endParaRPr sz="21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AF4103-4972-4F86-884B-0D7BE8B050E5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4286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Best for prerequisites, provenance, dependencies, and connection questions
Returns paths and source evidence</a:t>
            </a:r>
            <a:endParaRPr sz="150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D1FD3AC-927C-4E3D-918B-39750C2ABA9F}"/>
              </a:ext>
            </a:extLst>
          </p:cNvPr>
          <p:cNvSpPr>
            <a:spLocks noGrp="1"/>
          </p:cNvSpPr>
          <p:nvPr/>
        </p:nvSpPr>
        <p:spPr>
          <a:xfrm>
            <a:off x="5943600" y="1428750"/>
            <a:ext cx="0" cy="4381500"/>
          </a:xfrm>
          <a:prstGeom prst="line">
            <a:avLst/>
          </a:prstGeom>
          <a:noFill/>
          <a:ln w="19050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0FF10-9FAD-4928-BA2E-83AA85ECECCE}"/>
              </a:ext>
            </a:extLst>
          </p:cNvPr>
          <p:cNvSpPr>
            <a:spLocks noGrp="1"/>
          </p:cNvSpPr>
          <p:nvPr/>
        </p:nvSpPr>
        <p:spPr>
          <a:xfrm>
            <a:off x="6629400" y="14287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4A8F77"/>
                </a:solidFill>
                <a:latin typeface="Aptos"/>
                <a:ea typeface="Aptos"/>
                <a:cs typeface="Aptos"/>
              </a:defRPr>
            </a:pPr>
            <a:r>
              <a:rPr lang="en-IN" sz="1275" b="1">
                <a:solidFill>
                  <a:srgbClr val="4A8F77"/>
                </a:solidFill>
                <a:latin typeface="Aptos"/>
                <a:ea typeface="Aptos"/>
                <a:cs typeface="Aptos"/>
              </a:rPr>
              <a:t>GLOBAL QUERY</a:t>
            </a:r>
            <a:endParaRPr sz="1275" b="1">
              <a:solidFill>
                <a:srgbClr val="4A8F7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690CA-BF87-4C76-A746-382822FDF503}"/>
              </a:ext>
            </a:extLst>
          </p:cNvPr>
          <p:cNvSpPr>
            <a:spLocks noGrp="1"/>
          </p:cNvSpPr>
          <p:nvPr/>
        </p:nvSpPr>
        <p:spPr>
          <a:xfrm>
            <a:off x="6629400" y="18288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81" lnSpcReduction="10000"/>
          </a:bodyPr>
          <a:lstStyle/>
          <a:p>
            <a:pPr algn="l"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Reason across community summaries for corpus-level answers</a:t>
            </a:r>
            <a:endParaRPr sz="210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565EF-0EEE-4A72-9A97-E8500AE815A5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4381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Best for themes, trends, recurring concepts, and collection-wide synthesis
Combines relevant community findings</a:t>
            </a:r>
            <a:endParaRPr sz="1500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76C8CC-A0C2-4643-91AB-92C55D5868D1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10287000" cy="1314450"/>
          </a:xfrm>
          <a:prstGeom prst="roundRect">
            <a:avLst>
              <a:gd name="adj" fmla="val 5797"/>
            </a:avLst>
          </a:prstGeom>
          <a:solidFill>
            <a:srgbClr val="10243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C5110-E27E-49D0-8DC3-E01714355B81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62C8C3"/>
                </a:solidFill>
                <a:latin typeface="Aptos"/>
                <a:ea typeface="Aptos"/>
                <a:cs typeface="Aptos"/>
              </a:defRPr>
            </a:pPr>
            <a:r>
              <a:rPr lang="en-IN" sz="1125" b="1">
                <a:solidFill>
                  <a:srgbClr val="62C8C3"/>
                </a:solidFill>
                <a:latin typeface="Aptos"/>
                <a:ea typeface="Aptos"/>
                <a:cs typeface="Aptos"/>
              </a:rPr>
              <a:t>Examples</a:t>
            </a:r>
            <a:endParaRPr sz="1125" b="1">
              <a:solidFill>
                <a:srgbClr val="62C8C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39C451-18D5-4F9E-A492-434560323E29}"/>
              </a:ext>
            </a:extLst>
          </p:cNvPr>
          <p:cNvSpPr>
            <a:spLocks noGrp="1"/>
          </p:cNvSpPr>
          <p:nvPr/>
        </p:nvSpPr>
        <p:spPr>
          <a:xfrm>
            <a:off x="990600" y="48958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874" lnSpcReduction="20000"/>
          </a:bodyPr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Local: Which modules precede MCP?
Global: What themes recur across the AI curriculum?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B7ABA-6662-4488-A28D-A392626A6B24}"/>
              </a:ext>
            </a:extLst>
          </p:cNvPr>
          <p:cNvSpPr>
            <a:spLocks noGrp="1"/>
          </p:cNvSpPr>
          <p:nvPr/>
        </p:nvSpPr>
        <p:spPr>
          <a:xfrm>
            <a:off x="6286500" y="4724400"/>
            <a:ext cx="4191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2"/>
          </a:bodyPr>
          <a:lstStyle/>
          <a:p>
            <a:pPr algn="l">
              <a:defRPr sz="15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Both modes can combine graph context with vector evidence and citations.</a:t>
            </a:r>
            <a:endParaRPr sz="1500" b="0">
              <a:solidFill>
                <a:srgbClr val="DDE8E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55918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D1D752A-4801-497C-A5FB-95C0B037C3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F8FE06-3B55-463D-A8FD-505497830DF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Teaching demonstrations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BE361F-2B9D-4C8F-9438-EC936604746D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11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74B0339-B277-4C8A-9228-ECCE5B3C9ED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1E8BB-F3DC-417C-BDD1-90EC24BED1A5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0A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A2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9E20F1-A079-46A6-AB14-09F4806C1326}"/>
              </a:ext>
            </a:extLst>
          </p:cNvPr>
          <p:cNvSpPr>
            <a:spLocks noGrp="1"/>
          </p:cNvSpPr>
          <p:nvPr/>
        </p:nvSpPr>
        <p:spPr>
          <a:xfrm>
            <a:off x="1390650" y="13906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Retrieval comparison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C1F98-20BC-4733-BDB9-ADE400AA4B56}"/>
              </a:ext>
            </a:extLst>
          </p:cNvPr>
          <p:cNvSpPr>
            <a:spLocks noGrp="1"/>
          </p:cNvSpPr>
          <p:nvPr/>
        </p:nvSpPr>
        <p:spPr>
          <a:xfrm>
            <a:off x="1390650" y="18288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Keyword-only, vector-only, then RRF hybrid evidence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29DFAAF-2017-4145-BD1F-968966DE3018}"/>
              </a:ext>
            </a:extLst>
          </p:cNvPr>
          <p:cNvSpPr>
            <a:spLocks noGrp="1"/>
          </p:cNvSpPr>
          <p:nvPr/>
        </p:nvSpPr>
        <p:spPr>
          <a:xfrm>
            <a:off x="1390650" y="2495550"/>
            <a:ext cx="419100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FA0B7-14FA-4802-8410-836D417DEDC7}"/>
              </a:ext>
            </a:extLst>
          </p:cNvPr>
          <p:cNvSpPr>
            <a:spLocks noGrp="1"/>
          </p:cNvSpPr>
          <p:nvPr/>
        </p:nvSpPr>
        <p:spPr>
          <a:xfrm>
            <a:off x="6343650" y="13906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0A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A2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6C41DA-F157-477C-A807-646972B5698C}"/>
              </a:ext>
            </a:extLst>
          </p:cNvPr>
          <p:cNvSpPr>
            <a:spLocks noGrp="1"/>
          </p:cNvSpPr>
          <p:nvPr/>
        </p:nvSpPr>
        <p:spPr>
          <a:xfrm>
            <a:off x="7010400" y="13906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Graph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E93945-AD5B-4238-8A80-939EE75DC92E}"/>
              </a:ext>
            </a:extLst>
          </p:cNvPr>
          <p:cNvSpPr>
            <a:spLocks noGrp="1"/>
          </p:cNvSpPr>
          <p:nvPr/>
        </p:nvSpPr>
        <p:spPr>
          <a:xfrm>
            <a:off x="7010400" y="18288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Display the AGE path behind a curriculum answer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EC16073-0BBE-4D1D-ADCA-8034C3C3FDB5}"/>
              </a:ext>
            </a:extLst>
          </p:cNvPr>
          <p:cNvSpPr>
            <a:spLocks noGrp="1"/>
          </p:cNvSpPr>
          <p:nvPr/>
        </p:nvSpPr>
        <p:spPr>
          <a:xfrm>
            <a:off x="7010400" y="2495550"/>
            <a:ext cx="419100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200FC9-0E2C-45D5-8136-C9BFAB9457AF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0A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A2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7158D9-26BC-4EC6-8FAF-B86B0C61EA37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Multi-hop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5945D-D83F-45BF-944D-2BB927202870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Compare vector-only and graph-aware responses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6F7EE15-19EB-4CA5-BBCF-48B3C421F97D}"/>
              </a:ext>
            </a:extLst>
          </p:cNvPr>
          <p:cNvSpPr>
            <a:spLocks noGrp="1"/>
          </p:cNvSpPr>
          <p:nvPr/>
        </p:nvSpPr>
        <p:spPr>
          <a:xfrm>
            <a:off x="1390650" y="3943350"/>
            <a:ext cx="419100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5DDE7-12A7-49CD-B123-49B0CD1752DA}"/>
              </a:ext>
            </a:extLst>
          </p:cNvPr>
          <p:cNvSpPr>
            <a:spLocks noGrp="1"/>
          </p:cNvSpPr>
          <p:nvPr/>
        </p:nvSpPr>
        <p:spPr>
          <a:xfrm>
            <a:off x="6343650" y="28384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0A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A2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8EFB33-27AD-4A95-B4B6-F450D2057E58}"/>
              </a:ext>
            </a:extLst>
          </p:cNvPr>
          <p:cNvSpPr>
            <a:spLocks noGrp="1"/>
          </p:cNvSpPr>
          <p:nvPr/>
        </p:nvSpPr>
        <p:spPr>
          <a:xfrm>
            <a:off x="7010400" y="28384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Content lifecycle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254215-1427-4450-8737-2CBD781407F1}"/>
              </a:ext>
            </a:extLst>
          </p:cNvPr>
          <p:cNvSpPr>
            <a:spLocks noGrp="1"/>
          </p:cNvSpPr>
          <p:nvPr/>
        </p:nvSpPr>
        <p:spPr>
          <a:xfrm>
            <a:off x="7010400" y="32766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Create content and observe rows, embedding, node, and edge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04479F1-2AE4-4479-83F7-48087ED6289D}"/>
              </a:ext>
            </a:extLst>
          </p:cNvPr>
          <p:cNvSpPr>
            <a:spLocks noGrp="1"/>
          </p:cNvSpPr>
          <p:nvPr/>
        </p:nvSpPr>
        <p:spPr>
          <a:xfrm>
            <a:off x="7010400" y="3943350"/>
            <a:ext cx="419100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95CB20-6EFF-4724-8852-FC60034A0CFC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0A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A2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41C007-F767-422D-BCE3-67F8D71034F6}"/>
              </a:ext>
            </a:extLst>
          </p:cNvPr>
          <p:cNvSpPr>
            <a:spLocks noGrp="1"/>
          </p:cNvSpPr>
          <p:nvPr/>
        </p:nvSpPr>
        <p:spPr>
          <a:xfrm>
            <a:off x="1390650" y="42862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Multiple clients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A9029D-73A1-4ED7-9656-6A0ADE44156A}"/>
              </a:ext>
            </a:extLst>
          </p:cNvPr>
          <p:cNvSpPr>
            <a:spLocks noGrp="1"/>
          </p:cNvSpPr>
          <p:nvPr/>
        </p:nvSpPr>
        <p:spPr>
          <a:xfrm>
            <a:off x="1390650" y="47244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Query through the web chatbot and Student MCP server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AAE1AA7-0D07-40E2-B89C-E71874A9AB8C}"/>
              </a:ext>
            </a:extLst>
          </p:cNvPr>
          <p:cNvSpPr>
            <a:spLocks noGrp="1"/>
          </p:cNvSpPr>
          <p:nvPr/>
        </p:nvSpPr>
        <p:spPr>
          <a:xfrm>
            <a:off x="1390650" y="5391150"/>
            <a:ext cx="419100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AD63DC-2CD2-4B6F-903C-18C2EAEBE8F1}"/>
              </a:ext>
            </a:extLst>
          </p:cNvPr>
          <p:cNvSpPr>
            <a:spLocks noGrp="1"/>
          </p:cNvSpPr>
          <p:nvPr/>
        </p:nvSpPr>
        <p:spPr>
          <a:xfrm>
            <a:off x="6343650" y="42862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0A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A2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D178DF-6482-48E6-8AB3-2C701425ABD0}"/>
              </a:ext>
            </a:extLst>
          </p:cNvPr>
          <p:cNvSpPr>
            <a:spLocks noGrp="1"/>
          </p:cNvSpPr>
          <p:nvPr/>
        </p:nvSpPr>
        <p:spPr>
          <a:xfrm>
            <a:off x="7010400" y="42862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Trust controls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999602-7257-4A8A-A1F3-1F8CFA67E2D3}"/>
              </a:ext>
            </a:extLst>
          </p:cNvPr>
          <p:cNvSpPr>
            <a:spLocks noGrp="1"/>
          </p:cNvSpPr>
          <p:nvPr/>
        </p:nvSpPr>
        <p:spPr>
          <a:xfrm>
            <a:off x="7010400" y="47244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Show citations, Blob-backed sources, and Content Safety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1ADF8FB0-E5AC-4F63-B5F1-A5B11A9034A3}"/>
              </a:ext>
            </a:extLst>
          </p:cNvPr>
          <p:cNvSpPr>
            <a:spLocks noGrp="1"/>
          </p:cNvSpPr>
          <p:nvPr/>
        </p:nvSpPr>
        <p:spPr>
          <a:xfrm>
            <a:off x="7010400" y="5391150"/>
            <a:ext cx="419100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02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41C48CE-D1D5-41D9-9E43-32CDE9DC70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2C8C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244AF3-5584-48A2-BD20-E30B6F2AB3F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Design principles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2AE0F8-32F9-40F5-93EF-5747302AAA95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12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93CFF02-117A-43D6-A4BD-E11A984BDDF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459157-605A-4086-9625-D2E4A296AB4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51054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1C6F7B-BC49-47B4-A8BC-28BA3721A1EA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95250" cy="12001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E775A3-CCFB-4E6C-AA55-B59220BCB3EC}"/>
              </a:ext>
            </a:extLst>
          </p:cNvPr>
          <p:cNvSpPr>
            <a:spLocks noGrp="1"/>
          </p:cNvSpPr>
          <p:nvPr/>
        </p:nvSpPr>
        <p:spPr>
          <a:xfrm>
            <a:off x="952500" y="153352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Canonical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18C03E-2BEC-42BC-AA59-5B9EFE02B97E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PostgreSQL owns relational truth. AGE remains rebuildable.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B6B1CC-5032-4D48-8162-5D2E907615B6}"/>
              </a:ext>
            </a:extLst>
          </p:cNvPr>
          <p:cNvSpPr>
            <a:spLocks noGrp="1"/>
          </p:cNvSpPr>
          <p:nvPr/>
        </p:nvSpPr>
        <p:spPr>
          <a:xfrm>
            <a:off x="6267450" y="1390650"/>
            <a:ext cx="51054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9C48FF-6D99-48FB-9731-7ED5B0C996D1}"/>
              </a:ext>
            </a:extLst>
          </p:cNvPr>
          <p:cNvSpPr>
            <a:spLocks noGrp="1"/>
          </p:cNvSpPr>
          <p:nvPr/>
        </p:nvSpPr>
        <p:spPr>
          <a:xfrm>
            <a:off x="6267450" y="1390650"/>
            <a:ext cx="95250" cy="12001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75AA1-B676-4593-AD0A-7B0EEE2C55E8}"/>
              </a:ext>
            </a:extLst>
          </p:cNvPr>
          <p:cNvSpPr>
            <a:spLocks noGrp="1"/>
          </p:cNvSpPr>
          <p:nvPr/>
        </p:nvSpPr>
        <p:spPr>
          <a:xfrm>
            <a:off x="6534150" y="153352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Source integrity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BBCA89-3A8F-42EC-A905-EF85650D44BD}"/>
              </a:ext>
            </a:extLst>
          </p:cNvPr>
          <p:cNvSpPr>
            <a:spLocks noGrp="1"/>
          </p:cNvSpPr>
          <p:nvPr/>
        </p:nvSpPr>
        <p:spPr>
          <a:xfrm>
            <a:off x="6534150" y="18859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Blob Storage keeps original files while PostgreSQL holds extracted knowledge.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411F34-99C8-4FA6-B607-2406332D78B6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51054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C63AF4-28AE-4AF5-B6AD-2A8E58DA7A2A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95250" cy="1200150"/>
          </a:xfrm>
          <a:prstGeom prst="roundRect">
            <a:avLst>
              <a:gd name="adj" fmla="val 50000"/>
            </a:avLst>
          </a:prstGeom>
          <a:solidFill>
            <a:srgbClr val="4A8F7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AB8E59-9BE4-419E-9C28-BD1A538F3284}"/>
              </a:ext>
            </a:extLst>
          </p:cNvPr>
          <p:cNvSpPr>
            <a:spLocks noGrp="1"/>
          </p:cNvSpPr>
          <p:nvPr/>
        </p:nvSpPr>
        <p:spPr>
          <a:xfrm>
            <a:off x="952500" y="303847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Evidence discipline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ACFCD8-D43E-4260-ACA0-1BD3D58413CC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Every grounded answer includes citations. Graph structure requires supporting evidence.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02334BA-C32C-420C-9B86-8B97F2A9BB31}"/>
              </a:ext>
            </a:extLst>
          </p:cNvPr>
          <p:cNvSpPr>
            <a:spLocks noGrp="1"/>
          </p:cNvSpPr>
          <p:nvPr/>
        </p:nvSpPr>
        <p:spPr>
          <a:xfrm>
            <a:off x="6267450" y="2895600"/>
            <a:ext cx="51054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39C66D4-3C7E-44EF-8EA5-B389564F0DA2}"/>
              </a:ext>
            </a:extLst>
          </p:cNvPr>
          <p:cNvSpPr>
            <a:spLocks noGrp="1"/>
          </p:cNvSpPr>
          <p:nvPr/>
        </p:nvSpPr>
        <p:spPr>
          <a:xfrm>
            <a:off x="6267450" y="2895600"/>
            <a:ext cx="95250" cy="1200150"/>
          </a:xfrm>
          <a:prstGeom prst="roundRect">
            <a:avLst>
              <a:gd name="adj" fmla="val 50000"/>
            </a:avLst>
          </a:prstGeom>
          <a:solidFill>
            <a:srgbClr val="4A8F7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868E2-12FE-4DA4-8D8D-F476D997CC13}"/>
              </a:ext>
            </a:extLst>
          </p:cNvPr>
          <p:cNvSpPr>
            <a:spLocks noGrp="1"/>
          </p:cNvSpPr>
          <p:nvPr/>
        </p:nvSpPr>
        <p:spPr>
          <a:xfrm>
            <a:off x="6534150" y="303847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Access separation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F60AD5-7BE4-46EB-BCEF-92AF075537B7}"/>
              </a:ext>
            </a:extLst>
          </p:cNvPr>
          <p:cNvSpPr>
            <a:spLocks noGrp="1"/>
          </p:cNvSpPr>
          <p:nvPr/>
        </p:nvSpPr>
        <p:spPr>
          <a:xfrm>
            <a:off x="6534150" y="339090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Student capabilities remain distinct from authoring capabilities.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E096F5-7CC2-479D-8A7B-88AFEF9014CF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51054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10C8DA6-806F-4F15-8478-24DDDC65BFAE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95250" cy="1200150"/>
          </a:xfrm>
          <a:prstGeom prst="roundRect">
            <a:avLst>
              <a:gd name="adj" fmla="val 50000"/>
            </a:avLst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391EB5-6B81-4B11-B2C3-C68AA1AB1C12}"/>
              </a:ext>
            </a:extLst>
          </p:cNvPr>
          <p:cNvSpPr>
            <a:spLocks noGrp="1"/>
          </p:cNvSpPr>
          <p:nvPr/>
        </p:nvSpPr>
        <p:spPr>
          <a:xfrm>
            <a:off x="952500" y="454342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Transparent ranking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464DF9-C6B0-4E0A-B134-154F0553E1E0}"/>
              </a:ext>
            </a:extLst>
          </p:cNvPr>
          <p:cNvSpPr>
            <a:spLocks noGrp="1"/>
          </p:cNvSpPr>
          <p:nvPr/>
        </p:nvSpPr>
        <p:spPr>
          <a:xfrm>
            <a:off x="952500" y="48958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Keyword, vector, and graph candidates combine through RRF.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408BF7-49BB-47E4-A096-3B589A619208}"/>
              </a:ext>
            </a:extLst>
          </p:cNvPr>
          <p:cNvSpPr>
            <a:spLocks noGrp="1"/>
          </p:cNvSpPr>
          <p:nvPr/>
        </p:nvSpPr>
        <p:spPr>
          <a:xfrm>
            <a:off x="6267450" y="4400550"/>
            <a:ext cx="51054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A7042F-59E5-4BE9-A3D2-36117BCF5A78}"/>
              </a:ext>
            </a:extLst>
          </p:cNvPr>
          <p:cNvSpPr>
            <a:spLocks noGrp="1"/>
          </p:cNvSpPr>
          <p:nvPr/>
        </p:nvSpPr>
        <p:spPr>
          <a:xfrm>
            <a:off x="6267450" y="4400550"/>
            <a:ext cx="95250" cy="1200150"/>
          </a:xfrm>
          <a:prstGeom prst="roundRect">
            <a:avLst>
              <a:gd name="adj" fmla="val 50000"/>
            </a:avLst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5E72C8-0D04-4853-906C-9E964F095BD1}"/>
              </a:ext>
            </a:extLst>
          </p:cNvPr>
          <p:cNvSpPr>
            <a:spLocks noGrp="1"/>
          </p:cNvSpPr>
          <p:nvPr/>
        </p:nvSpPr>
        <p:spPr>
          <a:xfrm>
            <a:off x="6534150" y="454342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Advanced option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06D5B5-0E9E-4E06-99ED-520FD60434FD}"/>
              </a:ext>
            </a:extLst>
          </p:cNvPr>
          <p:cNvSpPr>
            <a:spLocks noGrp="1"/>
          </p:cNvSpPr>
          <p:nvPr/>
        </p:nvSpPr>
        <p:spPr>
          <a:xfrm>
            <a:off x="6534150" y="48958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Model-based reranking remains an optional teaching experiment.</a:t>
            </a:r>
          </a:p>
        </p:txBody>
      </p:sp>
    </p:spTree>
    <p:extLst>
      <p:ext uri="{BB962C8B-B14F-4D97-AF65-F5344CB8AC3E}">
        <p14:creationId xmlns:p14="http://schemas.microsoft.com/office/powerpoint/2010/main" val="476897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EDF5956-77CF-4A3F-91B2-C39BC0568F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A8F7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99EF07-80E9-4690-A989-F5A3B3E9472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Future enhancements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E763FE-7A65-411D-A898-9799B4113A25}"/>
              </a:ext>
            </a:extLst>
          </p:cNvPr>
          <p:cNvSpPr>
            <a:spLocks noGrp="1"/>
          </p:cNvSpPr>
          <p:nvPr/>
        </p:nvSpPr>
        <p:spPr>
          <a:xfrm>
            <a:off x="11049000" y="419100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IN" sz="1200" b="1">
                <a:solidFill>
                  <a:srgbClr val="5F6B76"/>
                </a:solidFill>
                <a:latin typeface="Aptos"/>
                <a:ea typeface="Aptos"/>
                <a:cs typeface="Aptos"/>
              </a:rPr>
              <a:t>13</a:t>
            </a:r>
            <a:endParaRPr sz="1200" b="1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DE3F46-E1A4-4B07-BD2F-3C05183C9C5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44150" cy="0"/>
          </a:xfrm>
          <a:prstGeom prst="line">
            <a:avLst/>
          </a:prstGeom>
          <a:noFill/>
          <a:ln w="9525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BF613D4-3610-454E-8B0A-502B5420C25C}"/>
              </a:ext>
            </a:extLst>
          </p:cNvPr>
          <p:cNvSpPr>
            <a:spLocks noGrp="1"/>
          </p:cNvSpPr>
          <p:nvPr/>
        </p:nvSpPr>
        <p:spPr>
          <a:xfrm>
            <a:off x="1428750" y="2000250"/>
            <a:ext cx="0" cy="3543300"/>
          </a:xfrm>
          <a:prstGeom prst="line">
            <a:avLst/>
          </a:prstGeom>
          <a:noFill/>
          <a:ln w="38100">
            <a:solidFill>
              <a:srgbClr val="B9C7CF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0225C8-BDAD-4B9B-AF24-98D0003AE539}"/>
              </a:ext>
            </a:extLst>
          </p:cNvPr>
          <p:cNvSpPr>
            <a:spLocks noGrp="1"/>
          </p:cNvSpPr>
          <p:nvPr/>
        </p:nvSpPr>
        <p:spPr>
          <a:xfrm>
            <a:off x="1257300" y="1628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76B8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2DFD1-EE37-4B17-99B1-0BE1419562BB}"/>
              </a:ext>
            </a:extLst>
          </p:cNvPr>
          <p:cNvSpPr>
            <a:spLocks noGrp="1"/>
          </p:cNvSpPr>
          <p:nvPr/>
        </p:nvSpPr>
        <p:spPr>
          <a:xfrm>
            <a:off x="1257300" y="162877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D874D1-8361-4D84-9AA1-C51892BC3C29}"/>
              </a:ext>
            </a:extLst>
          </p:cNvPr>
          <p:cNvSpPr>
            <a:spLocks noGrp="1"/>
          </p:cNvSpPr>
          <p:nvPr/>
        </p:nvSpPr>
        <p:spPr>
          <a:xfrm>
            <a:off x="1943100" y="14097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Identity and access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189948-9026-4F8A-8AF9-8AAF4E4BB5C4}"/>
              </a:ext>
            </a:extLst>
          </p:cNvPr>
          <p:cNvSpPr>
            <a:spLocks noGrp="1"/>
          </p:cNvSpPr>
          <p:nvPr/>
        </p:nvSpPr>
        <p:spPr>
          <a:xfrm>
            <a:off x="4953000" y="14097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Microsoft Entra ID and course enrolment authorization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EB4938-A4F1-4C0A-8583-E36A7D27FFBE}"/>
              </a:ext>
            </a:extLst>
          </p:cNvPr>
          <p:cNvSpPr>
            <a:spLocks noGrp="1"/>
          </p:cNvSpPr>
          <p:nvPr/>
        </p:nvSpPr>
        <p:spPr>
          <a:xfrm>
            <a:off x="1257300" y="24098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76B8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7BB493-36A1-48B2-93AE-E115D76E9FCA}"/>
              </a:ext>
            </a:extLst>
          </p:cNvPr>
          <p:cNvSpPr>
            <a:spLocks noGrp="1"/>
          </p:cNvSpPr>
          <p:nvPr/>
        </p:nvSpPr>
        <p:spPr>
          <a:xfrm>
            <a:off x="1257300" y="240982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B8EFBB-7146-4BA0-B710-16C09068B1D6}"/>
              </a:ext>
            </a:extLst>
          </p:cNvPr>
          <p:cNvSpPr>
            <a:spLocks noGrp="1"/>
          </p:cNvSpPr>
          <p:nvPr/>
        </p:nvSpPr>
        <p:spPr>
          <a:xfrm>
            <a:off x="1943100" y="21907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Private citations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60434-7062-450A-B20F-913F16AFEC3C}"/>
              </a:ext>
            </a:extLst>
          </p:cNvPr>
          <p:cNvSpPr>
            <a:spLocks noGrp="1"/>
          </p:cNvSpPr>
          <p:nvPr/>
        </p:nvSpPr>
        <p:spPr>
          <a:xfrm>
            <a:off x="4953000" y="21907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Short-lived SAS links for protected source documents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E8239F-C663-4C96-8049-DBFEA28B70F0}"/>
              </a:ext>
            </a:extLst>
          </p:cNvPr>
          <p:cNvSpPr>
            <a:spLocks noGrp="1"/>
          </p:cNvSpPr>
          <p:nvPr/>
        </p:nvSpPr>
        <p:spPr>
          <a:xfrm>
            <a:off x="1257300" y="31908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A491F0-7FA0-488C-B850-70DE5DEBBD12}"/>
              </a:ext>
            </a:extLst>
          </p:cNvPr>
          <p:cNvSpPr>
            <a:spLocks noGrp="1"/>
          </p:cNvSpPr>
          <p:nvPr/>
        </p:nvSpPr>
        <p:spPr>
          <a:xfrm>
            <a:off x="1257300" y="319087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8A23A-4C55-48FA-9A71-4E8C6A3A5345}"/>
              </a:ext>
            </a:extLst>
          </p:cNvPr>
          <p:cNvSpPr>
            <a:spLocks noGrp="1"/>
          </p:cNvSpPr>
          <p:nvPr/>
        </p:nvSpPr>
        <p:spPr>
          <a:xfrm>
            <a:off x="1943100" y="29718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Background extraction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E89433-14C6-4EA8-A921-808430B3282B}"/>
              </a:ext>
            </a:extLst>
          </p:cNvPr>
          <p:cNvSpPr>
            <a:spLocks noGrp="1"/>
          </p:cNvSpPr>
          <p:nvPr/>
        </p:nvSpPr>
        <p:spPr>
          <a:xfrm>
            <a:off x="4953000" y="29718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Asynchronous processing for PDF, DOCX, and PPTX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368A8F-3626-400E-97D2-8BC966ADDB3A}"/>
              </a:ext>
            </a:extLst>
          </p:cNvPr>
          <p:cNvSpPr>
            <a:spLocks noGrp="1"/>
          </p:cNvSpPr>
          <p:nvPr/>
        </p:nvSpPr>
        <p:spPr>
          <a:xfrm>
            <a:off x="1257300" y="39719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0A24B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63085E-F519-46B9-B00E-07CF6020E44C}"/>
              </a:ext>
            </a:extLst>
          </p:cNvPr>
          <p:cNvSpPr>
            <a:spLocks noGrp="1"/>
          </p:cNvSpPr>
          <p:nvPr/>
        </p:nvSpPr>
        <p:spPr>
          <a:xfrm>
            <a:off x="1257300" y="397192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B2F04A-F445-42CE-8241-9537CDFD3508}"/>
              </a:ext>
            </a:extLst>
          </p:cNvPr>
          <p:cNvSpPr>
            <a:spLocks noGrp="1"/>
          </p:cNvSpPr>
          <p:nvPr/>
        </p:nvSpPr>
        <p:spPr>
          <a:xfrm>
            <a:off x="1943100" y="37528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Incremental graph updates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3568FB-92C6-4983-ADA3-F4AA251B3C04}"/>
              </a:ext>
            </a:extLst>
          </p:cNvPr>
          <p:cNvSpPr>
            <a:spLocks noGrp="1"/>
          </p:cNvSpPr>
          <p:nvPr/>
        </p:nvSpPr>
        <p:spPr>
          <a:xfrm>
            <a:off x="4953000" y="37528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Outbox worker instead of full projection synchronization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B1641F-AB5B-4C90-975A-F7D3A250D5D4}"/>
              </a:ext>
            </a:extLst>
          </p:cNvPr>
          <p:cNvSpPr>
            <a:spLocks noGrp="1"/>
          </p:cNvSpPr>
          <p:nvPr/>
        </p:nvSpPr>
        <p:spPr>
          <a:xfrm>
            <a:off x="1257300" y="47529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A8F7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6BE32C-65A5-4C2D-87D0-BEB3E84EF574}"/>
              </a:ext>
            </a:extLst>
          </p:cNvPr>
          <p:cNvSpPr>
            <a:spLocks noGrp="1"/>
          </p:cNvSpPr>
          <p:nvPr/>
        </p:nvSpPr>
        <p:spPr>
          <a:xfrm>
            <a:off x="1257300" y="475297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FCA031-83DC-4B23-8BFF-2199D04848F5}"/>
              </a:ext>
            </a:extLst>
          </p:cNvPr>
          <p:cNvSpPr>
            <a:spLocks noGrp="1"/>
          </p:cNvSpPr>
          <p:nvPr/>
        </p:nvSpPr>
        <p:spPr>
          <a:xfrm>
            <a:off x="1943100" y="45339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Retrieval evaluation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20F3E3-8936-4B98-A584-3EDD49D794B3}"/>
              </a:ext>
            </a:extLst>
          </p:cNvPr>
          <p:cNvSpPr>
            <a:spLocks noGrp="1"/>
          </p:cNvSpPr>
          <p:nvPr/>
        </p:nvSpPr>
        <p:spPr>
          <a:xfrm>
            <a:off x="4953000" y="45339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Dataset built from anonymized student questions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D9539E-B1B6-416F-9451-B3ED60E0409A}"/>
              </a:ext>
            </a:extLst>
          </p:cNvPr>
          <p:cNvSpPr>
            <a:spLocks noGrp="1"/>
          </p:cNvSpPr>
          <p:nvPr/>
        </p:nvSpPr>
        <p:spPr>
          <a:xfrm>
            <a:off x="1257300" y="55340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A8F7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FAE900-9191-4D2A-8B31-DC37E32539CF}"/>
              </a:ext>
            </a:extLst>
          </p:cNvPr>
          <p:cNvSpPr>
            <a:spLocks noGrp="1"/>
          </p:cNvSpPr>
          <p:nvPr/>
        </p:nvSpPr>
        <p:spPr>
          <a:xfrm>
            <a:off x="1257300" y="553402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6BE229-808B-4F5A-B5AE-D28D3B954E16}"/>
              </a:ext>
            </a:extLst>
          </p:cNvPr>
          <p:cNvSpPr>
            <a:spLocks noGrp="1"/>
          </p:cNvSpPr>
          <p:nvPr/>
        </p:nvSpPr>
        <p:spPr>
          <a:xfrm>
            <a:off x="1943100" y="53149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IN"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Entity resolution + reranking</a:t>
            </a:r>
            <a:endParaRPr sz="1650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7B7F4-E3B7-4C50-B777-F34481293772}"/>
              </a:ext>
            </a:extLst>
          </p:cNvPr>
          <p:cNvSpPr>
            <a:spLocks noGrp="1"/>
          </p:cNvSpPr>
          <p:nvPr/>
        </p:nvSpPr>
        <p:spPr>
          <a:xfrm>
            <a:off x="4953000" y="53149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lang="en-US"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Normalize aliases before projection; optionally rerank with azure_ai.rank()</a:t>
            </a:r>
            <a:endParaRPr sz="1425" b="0">
              <a:solidFill>
                <a:srgbClr val="5F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79C608-600A-4CDE-97D4-2220870BB88E}"/>
              </a:ext>
            </a:extLst>
          </p:cNvPr>
          <p:cNvSpPr>
            <a:spLocks noGrp="1"/>
          </p:cNvSpPr>
          <p:nvPr/>
        </p:nvSpPr>
        <p:spPr>
          <a:xfrm>
            <a:off x="1504950" y="5981700"/>
            <a:ext cx="923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239" lnSpcReduction="20000"/>
          </a:bodyPr>
          <a:lstStyle/>
          <a:p>
            <a:pPr algn="ctr">
              <a:defRPr sz="14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lang="en-US" sz="14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Roadmap items extend security, ingestion, synchronization, graph quality, and evaluation without changing the canonical data model.</a:t>
            </a:r>
            <a:endParaRPr sz="1425" b="1">
              <a:solidFill>
                <a:srgbClr val="10243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558287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331B2B-A033-481F-A34B-3F70EF8640AC}">
  <we:reference id="cba9fc06-6fc9-492e-9525-923870a3b909" version="2.0.0.0" store="EXCatalog" storeType="EXCatalog"/>
  <we:alternateReferences>
    <we:reference id="WA200010215" version="2.0.0.0" store="en-US" storeType="OMEX"/>
  </we:alternateReferences>
  <we:properties>
    <we:property name="bps.codex_control.document_id" value="&quot;239bd05f-c58e-4505-b64d-fc38e48a361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1116</Words>
  <Application>Microsoft Office PowerPoint</Application>
  <DocSecurity>0</DocSecurity>
  <PresentationFormat>Widescreen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Suresh Karri</cp:lastModifiedBy>
  <cp:revision>2</cp:revision>
  <dcterms:created xsi:type="dcterms:W3CDTF">2026-09-12T00:39:54Z</dcterms:created>
  <dcterms:modified xsi:type="dcterms:W3CDTF">2026-09-12T01:31:06Z</dcterms:modified>
</cp:coreProperties>
</file>